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sldIdLst>
    <p:sldId id="256" r:id="rId2"/>
    <p:sldId id="337" r:id="rId3"/>
    <p:sldId id="257" r:id="rId4"/>
    <p:sldId id="289" r:id="rId5"/>
    <p:sldId id="290" r:id="rId6"/>
    <p:sldId id="291" r:id="rId7"/>
    <p:sldId id="296" r:id="rId8"/>
    <p:sldId id="292" r:id="rId9"/>
    <p:sldId id="298" r:id="rId10"/>
    <p:sldId id="300" r:id="rId11"/>
    <p:sldId id="299" r:id="rId12"/>
    <p:sldId id="303" r:id="rId13"/>
    <p:sldId id="302" r:id="rId14"/>
    <p:sldId id="301" r:id="rId15"/>
    <p:sldId id="304" r:id="rId16"/>
    <p:sldId id="305" r:id="rId17"/>
    <p:sldId id="306" r:id="rId18"/>
    <p:sldId id="307" r:id="rId19"/>
    <p:sldId id="308" r:id="rId20"/>
    <p:sldId id="297" r:id="rId21"/>
    <p:sldId id="309" r:id="rId22"/>
    <p:sldId id="310" r:id="rId23"/>
    <p:sldId id="293" r:id="rId24"/>
    <p:sldId id="294" r:id="rId25"/>
    <p:sldId id="311" r:id="rId26"/>
    <p:sldId id="295" r:id="rId27"/>
    <p:sldId id="312" r:id="rId28"/>
    <p:sldId id="313" r:id="rId29"/>
    <p:sldId id="314" r:id="rId30"/>
    <p:sldId id="339" r:id="rId31"/>
    <p:sldId id="315" r:id="rId32"/>
    <p:sldId id="316" r:id="rId33"/>
    <p:sldId id="317" r:id="rId34"/>
    <p:sldId id="319" r:id="rId35"/>
    <p:sldId id="320" r:id="rId36"/>
    <p:sldId id="321" r:id="rId37"/>
    <p:sldId id="322" r:id="rId38"/>
    <p:sldId id="323" r:id="rId39"/>
    <p:sldId id="324" r:id="rId40"/>
    <p:sldId id="318" r:id="rId41"/>
    <p:sldId id="326" r:id="rId42"/>
    <p:sldId id="325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</p:sldIdLst>
  <p:sldSz cx="9144000" cy="6858000" type="screen4x3"/>
  <p:notesSz cx="6858000" cy="9144000"/>
  <p:custDataLst>
    <p:tags r:id="rId5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1D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85" autoAdjust="0"/>
    <p:restoredTop sz="94660"/>
  </p:normalViewPr>
  <p:slideViewPr>
    <p:cSldViewPr>
      <p:cViewPr varScale="1">
        <p:scale>
          <a:sx n="78" d="100"/>
          <a:sy n="78" d="100"/>
        </p:scale>
        <p:origin x="1182" y="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5984E7-2985-43B9-98A8-EFE7202F627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62844-11DE-41E0-9362-3CD29B09E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73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A338-C3FF-434F-BF75-8AF7110C066B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1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77200" cy="762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C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181600"/>
          </a:xfrm>
        </p:spPr>
        <p:txBody>
          <a:bodyPr>
            <a:normAutofit/>
          </a:bodyPr>
          <a:lstStyle>
            <a:lvl1pPr algn="just">
              <a:lnSpc>
                <a:spcPct val="120000"/>
              </a:lnSpc>
              <a:defRPr sz="2400"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  <a:lvl2pPr algn="just">
              <a:lnSpc>
                <a:spcPct val="120000"/>
              </a:lnSpc>
              <a:defRPr sz="2200"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2pPr>
            <a:lvl3pPr algn="just">
              <a:lnSpc>
                <a:spcPct val="120000"/>
              </a:lnSpc>
              <a:defRPr sz="2000"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3pPr>
            <a:lvl4pPr algn="just">
              <a:lnSpc>
                <a:spcPct val="120000"/>
              </a:lnSpc>
              <a:defRPr sz="1600"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4pPr>
            <a:lvl5pPr algn="just">
              <a:lnSpc>
                <a:spcPct val="120000"/>
              </a:lnSpc>
              <a:defRPr sz="1600"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69075"/>
            <a:ext cx="2133600" cy="288925"/>
          </a:xfrm>
        </p:spPr>
        <p:txBody>
          <a:bodyPr/>
          <a:lstStyle/>
          <a:p>
            <a:fld id="{BACD6510-27D4-4328-B18F-22476271EF71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69075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569075"/>
            <a:ext cx="2133600" cy="2889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D04EC63D-7C46-412B-AAA7-33974159EE2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914400"/>
            <a:ext cx="9144000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477000"/>
            <a:ext cx="9144000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152400" y="177225"/>
            <a:ext cx="684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rgbClr val="7030A0"/>
                </a:solidFill>
                <a:sym typeface="Wingdings"/>
              </a:rPr>
              <a:t></a:t>
            </a:r>
            <a:endParaRPr lang="en-US" sz="3200" b="1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08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3593E-BF59-4BAF-B563-753700EA1864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4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562C-A416-4C49-973F-7E14FBF22267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3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F5C1B-B66C-4FB3-B2F4-528E2C99CCF0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6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E3612-913E-44C5-B644-30B71FBEF580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70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054C5-0C6A-4EA4-B00A-BBDC2DA3CF8D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72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3600-4269-4048-B02D-8C5B4FA64F88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1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00F64-25DA-480D-85D6-B289EA59E3B0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9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9643-55BF-4FC6-B51E-59E3FAF4F96B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194D8-4B91-481F-8179-335D94205A93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4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8005F-6DA5-48F9-9A1F-369D03AD1B63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EC63D-7C46-412B-AAA7-33974159E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7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html5/" TargetMode="External"/><Relationship Id="rId2" Type="http://schemas.openxmlformats.org/officeDocument/2006/relationships/hyperlink" Target="http://whatwg.org/html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.org/TR/html52/" TargetMode="External"/><Relationship Id="rId4" Type="http://schemas.openxmlformats.org/officeDocument/2006/relationships/hyperlink" Target="http://www.w3.org/TR/html51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viettuts.vn/html5/su-kien-trong-html5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2078356"/>
            <a:ext cx="9144000" cy="10668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 2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447800"/>
            <a:ext cx="9144000" cy="0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6477000"/>
            <a:ext cx="9144000" cy="0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0" y="304800"/>
            <a:ext cx="9144000" cy="80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4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THIẾT KẾ WEB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4800" y="2945400"/>
            <a:ext cx="91440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NGÔN NGỮ HTML</a:t>
            </a:r>
          </a:p>
        </p:txBody>
      </p:sp>
    </p:spTree>
    <p:extLst>
      <p:ext uri="{BB962C8B-B14F-4D97-AF65-F5344CB8AC3E}">
        <p14:creationId xmlns:p14="http://schemas.microsoft.com/office/powerpoint/2010/main" val="2777870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Giới thiệu ngôn ngữ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414409"/>
              </p:ext>
            </p:extLst>
          </p:nvPr>
        </p:nvGraphicFramePr>
        <p:xfrm>
          <a:off x="502920" y="1209040"/>
          <a:ext cx="8107680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1799454630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146263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Year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Version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5620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1989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Tim Berners-Lee invented www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994622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1991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Tim Berners-Lee invented HTML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148018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1993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Dave Raggett drafted HTML+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141131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1995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HTML Working Group defined HTML 2.0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138922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1997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W3C Recommendation: HTML 3.2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654095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1999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W3C Recommendation: HTML 4.01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523820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2000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W3C Recommendation: XHTML 1.0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505926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2008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WHATWG HTML5 First Public Draft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55767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2012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  <a:hlinkClick r:id="rId2"/>
                        </a:rPr>
                        <a:t>WHATWG HTML5 Living Standard</a:t>
                      </a:r>
                      <a:endParaRPr lang="en-US" sz="160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96268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2014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  <a:hlinkClick r:id="rId3"/>
                        </a:rPr>
                        <a:t>W3C Recommendation: HTML5</a:t>
                      </a:r>
                      <a:endParaRPr lang="en-US" sz="160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73006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2016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W3C Candidate Recommendation: HTML 5.1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586131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2017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  <a:hlinkClick r:id="rId4"/>
                        </a:rPr>
                        <a:t>W3C Recommendation: HTML5.1 2nd Edition</a:t>
                      </a:r>
                      <a:endParaRPr lang="en-US" sz="160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591839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2017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  <a:hlinkClick r:id="rId5"/>
                        </a:rPr>
                        <a:t>W3C Recommendation: HTML5.2</a:t>
                      </a:r>
                      <a:endParaRPr lang="en-US" sz="160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176309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68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giảng dạy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Giới thiệu ngôn ngữ HTML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Các thành phần trong trang HTML</a:t>
            </a:r>
          </a:p>
          <a:p>
            <a:pPr marL="457200" indent="-457200">
              <a:buFont typeface="+mj-lt"/>
              <a:buAutoNum type="arabicPeriod"/>
            </a:pPr>
            <a:r>
              <a:rPr lang="sv-SE"/>
              <a:t>Các tag cơ bản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Định dạng trang HTML</a:t>
            </a:r>
          </a:p>
          <a:p>
            <a:pPr marL="457200" indent="-457200">
              <a:buFont typeface="+mj-lt"/>
              <a:buAutoNum type="arabicPeriod"/>
            </a:pPr>
            <a:r>
              <a:rPr lang="vi-VN"/>
              <a:t>Định dạng văn bản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/>
              <a:t>Hiển thị các ký tự đặc biệt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Hình ảnh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Danh sách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Liên kết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Bảng biểu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Form và các điều khiển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21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Giới thiệu ngôn ngữ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/>
              <a:t>HTML</a:t>
            </a:r>
            <a:r>
              <a:rPr lang="en-US"/>
              <a:t> </a:t>
            </a:r>
            <a:r>
              <a:rPr lang="vi-VN"/>
              <a:t>(HyperText Markup Language)</a:t>
            </a:r>
            <a:r>
              <a:rPr lang="en-US"/>
              <a:t> </a:t>
            </a:r>
            <a:r>
              <a:rPr lang="vi-VN"/>
              <a:t>là một ngôn ngữ đánh dấu siêu văn</a:t>
            </a:r>
            <a:r>
              <a:rPr lang="en-US"/>
              <a:t> bản</a:t>
            </a:r>
          </a:p>
          <a:p>
            <a:r>
              <a:rPr lang="vi-VN"/>
              <a:t>Là một chuẩn Internet do tổ chức W3C (World Wide Web Consortium) duy trì</a:t>
            </a:r>
          </a:p>
          <a:p>
            <a:r>
              <a:rPr lang="vi-VN"/>
              <a:t>Sử dụng tập ký hiệu đánh dấu gọi là tag để thiết kế trang web, các tag này còn được gọi là Element</a:t>
            </a:r>
          </a:p>
          <a:p>
            <a:r>
              <a:rPr lang="vi-VN"/>
              <a:t>Trang HTML được lưu với phần mở rộng là .htm hoặc .html</a:t>
            </a:r>
          </a:p>
          <a:p>
            <a:r>
              <a:rPr lang="vi-VN"/>
              <a:t>Để tạo các trang HTML, có thể sử dụng bất kỳ chương trình soạn thảo văn bản nào,</a:t>
            </a:r>
            <a:r>
              <a:rPr lang="en-US"/>
              <a:t> VD:</a:t>
            </a:r>
            <a:r>
              <a:rPr lang="vi-VN"/>
              <a:t> Notepad, </a:t>
            </a:r>
            <a:r>
              <a:rPr lang="en-US"/>
              <a:t>Notepad++, Sublime Text, </a:t>
            </a:r>
            <a:r>
              <a:rPr lang="vi-VN"/>
              <a:t>Dreamweaver, Visual Studio</a:t>
            </a:r>
            <a:r>
              <a:rPr lang="en-US"/>
              <a:t>,</a:t>
            </a:r>
            <a:r>
              <a:rPr lang="vi-VN"/>
              <a:t>…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5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thành phần trong trang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Cấu trúc của trang HTML: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905000" y="1986769"/>
            <a:ext cx="69342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html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head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title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Học lập trình web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title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head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h1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Chào mừng các bạn đến với ngôn ngữ HTML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h1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html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1600200" y="2407920"/>
            <a:ext cx="228600" cy="6400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04800" y="2506647"/>
            <a:ext cx="1295400" cy="3810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Đầu trang</a:t>
            </a:r>
          </a:p>
        </p:txBody>
      </p:sp>
      <p:sp>
        <p:nvSpPr>
          <p:cNvPr id="9" name="Left Brace 8"/>
          <p:cNvSpPr/>
          <p:nvPr/>
        </p:nvSpPr>
        <p:spPr>
          <a:xfrm>
            <a:off x="1600200" y="3246120"/>
            <a:ext cx="228600" cy="6400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04800" y="3352800"/>
            <a:ext cx="1295400" cy="3810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Thân trang</a:t>
            </a:r>
          </a:p>
        </p:txBody>
      </p:sp>
    </p:spTree>
    <p:extLst>
      <p:ext uri="{BB962C8B-B14F-4D97-AF65-F5344CB8AC3E}">
        <p14:creationId xmlns:p14="http://schemas.microsoft.com/office/powerpoint/2010/main" val="606598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thành phần trong trang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Cú pháp chung của tag: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vi-VN"/>
              <a:t>Tag không có nội dung gọi là tag rỗng (empty tag) và có cú pháp như sau: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" y="1676400"/>
            <a:ext cx="75438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tên_tag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thuộctính1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="giá trị"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thuộctính2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="giá trị"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...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Nội dung</a:t>
            </a: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tên_tag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00" y="3657600"/>
            <a:ext cx="75438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tên_tag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thuộctính1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="giá trị"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thuộctính2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="giá trị"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...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/&gt;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2850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thành phần trong trang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Ví dụ: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3400" y="1801595"/>
            <a:ext cx="85344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&lt;p style="color: red"&gt;Chào mừng bạn đến với website!&lt;/p&gt;</a:t>
            </a: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23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tag cơ bản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Định nghĩa cấu trúc trang HTML</a:t>
            </a:r>
          </a:p>
          <a:p>
            <a:r>
              <a:rPr lang="vi-VN"/>
              <a:t>Các tag tiêu đề - Headings</a:t>
            </a:r>
          </a:p>
          <a:p>
            <a:r>
              <a:rPr lang="vi-VN"/>
              <a:t>Phân đoạn - Paragraphs</a:t>
            </a:r>
          </a:p>
          <a:p>
            <a:r>
              <a:rPr lang="vi-VN"/>
              <a:t>Ngắt dòng </a:t>
            </a:r>
            <a:r>
              <a:rPr lang="en-US"/>
              <a:t>-</a:t>
            </a:r>
            <a:r>
              <a:rPr lang="vi-VN"/>
              <a:t> Line Break</a:t>
            </a:r>
          </a:p>
          <a:p>
            <a:r>
              <a:rPr lang="vi-VN"/>
              <a:t>Tag &lt;div&gt; - Division</a:t>
            </a:r>
          </a:p>
          <a:p>
            <a:r>
              <a:rPr lang="vi-VN"/>
              <a:t>Tag &lt;hr&gt; - Horizontal rule</a:t>
            </a:r>
          </a:p>
          <a:p>
            <a:r>
              <a:rPr lang="vi-VN"/>
              <a:t>Tag &lt;!--    --&gt; - Comment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21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tag cơ bản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Định nghĩa cấu trúc trang HTML</a:t>
            </a:r>
            <a:endParaRPr lang="en-US"/>
          </a:p>
          <a:p>
            <a:pPr lvl="1"/>
            <a:r>
              <a:rPr lang="vi-VN" b="1"/>
              <a:t>&lt;html&gt;&lt;/html&gt;:</a:t>
            </a:r>
            <a:r>
              <a:rPr lang="vi-VN"/>
              <a:t> xác định phần bắt đầu và kết thúc của trang HTML (HTML Document)</a:t>
            </a:r>
          </a:p>
          <a:p>
            <a:pPr lvl="1"/>
            <a:r>
              <a:rPr lang="vi-VN" b="1"/>
              <a:t>&lt;head&gt;&lt;/head&gt;: </a:t>
            </a:r>
            <a:r>
              <a:rPr lang="vi-VN"/>
              <a:t>chứa các thông tin tổng quát về trang web (meta-information) và không thể hiện trên cửa sổ trình duyệt</a:t>
            </a:r>
          </a:p>
          <a:p>
            <a:pPr lvl="1"/>
            <a:r>
              <a:rPr lang="vi-VN" b="1"/>
              <a:t>&lt;body&gt;&lt;/body&gt;: </a:t>
            </a:r>
            <a:r>
              <a:rPr lang="vi-VN"/>
              <a:t>nội dung chính của trang web, được thể hiện trong màn hình của trình duyệt</a:t>
            </a:r>
          </a:p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31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tag cơ bản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Các tag tiêu đề - Headings</a:t>
            </a:r>
            <a:endParaRPr lang="en-US"/>
          </a:p>
          <a:p>
            <a:pPr lvl="1"/>
            <a:r>
              <a:rPr lang="vi-VN"/>
              <a:t>Dùng để định dạng khổ chữ có dạng tiêu đề (giống chức năng Style của MS Word)</a:t>
            </a:r>
          </a:p>
          <a:p>
            <a:pPr lvl="1"/>
            <a:r>
              <a:rPr lang="vi-VN"/>
              <a:t>Gồm các tag </a:t>
            </a:r>
            <a:r>
              <a:rPr lang="vi-VN" b="1"/>
              <a:t>&lt;h1&gt;, &lt;h2&gt;, &lt;h3&gt;, &lt;h4&gt;, &lt;h5&gt;,</a:t>
            </a:r>
            <a:r>
              <a:rPr lang="en-US" b="1"/>
              <a:t> </a:t>
            </a:r>
            <a:r>
              <a:rPr lang="vi-VN" b="1"/>
              <a:t>&lt;h6&gt;</a:t>
            </a:r>
          </a:p>
          <a:p>
            <a:pPr lvl="1"/>
            <a:r>
              <a:rPr lang="vi-VN"/>
              <a:t>HTML sẽ tự động thêm một dòng trống vào trước và sau dòng định dạng là heading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3400" y="4016276"/>
            <a:ext cx="45720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h1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Đây là dòng heading 1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h1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Đây là dòng heading 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h3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Đây là dòng heading 3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h3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h4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Đây là dòng heading 4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h4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h5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Đây là dòng heading 5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h5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h6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Đây là dòng heading 6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h6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787890"/>
            <a:ext cx="3338404" cy="2612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092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tag cơ bản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Phân đoạn – Paragraphs</a:t>
            </a:r>
            <a:endParaRPr lang="en-US"/>
          </a:p>
          <a:p>
            <a:pPr lvl="1"/>
            <a:r>
              <a:rPr lang="vi-VN"/>
              <a:t>Sử dụng tag </a:t>
            </a:r>
            <a:r>
              <a:rPr lang="vi-VN" b="1"/>
              <a:t>&lt;p&gt;</a:t>
            </a:r>
            <a:r>
              <a:rPr lang="vi-VN"/>
              <a:t> để phân biệt các đoạn văn bản</a:t>
            </a:r>
          </a:p>
          <a:p>
            <a:pPr lvl="1"/>
            <a:r>
              <a:rPr lang="vi-VN"/>
              <a:t>Tag </a:t>
            </a:r>
            <a:r>
              <a:rPr lang="vi-VN" b="1"/>
              <a:t>&lt;p&gt; </a:t>
            </a:r>
            <a:r>
              <a:rPr lang="vi-VN"/>
              <a:t>không cần tag đóng</a:t>
            </a:r>
          </a:p>
          <a:p>
            <a:pPr lvl="1"/>
            <a:r>
              <a:rPr lang="vi-VN"/>
              <a:t>HTML sẽ tự động thêm một dòng trắng trước và sau đoạn văn bản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14400" y="3780472"/>
            <a:ext cx="52578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Trường 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Đại học Nghệ An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Khoa CNTT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...</a:t>
            </a: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4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tag cơ bản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Ngắt dòng </a:t>
            </a:r>
            <a:r>
              <a:rPr lang="en-US"/>
              <a:t>-</a:t>
            </a:r>
            <a:r>
              <a:rPr lang="vi-VN"/>
              <a:t> Line Break</a:t>
            </a:r>
            <a:endParaRPr lang="en-US"/>
          </a:p>
          <a:p>
            <a:pPr lvl="1"/>
            <a:r>
              <a:rPr lang="vi-VN"/>
              <a:t>Sử dụng tag </a:t>
            </a:r>
            <a:r>
              <a:rPr lang="vi-VN" b="1"/>
              <a:t>&lt;br&gt; </a:t>
            </a:r>
            <a:r>
              <a:rPr lang="vi-VN"/>
              <a:t>để chuyển sang một dòng mới nhưng không kết thúc đoạn văn bản</a:t>
            </a:r>
          </a:p>
          <a:p>
            <a:pPr lvl="1"/>
            <a:r>
              <a:rPr lang="vi-VN"/>
              <a:t>Tag </a:t>
            </a:r>
            <a:r>
              <a:rPr lang="vi-VN" b="1"/>
              <a:t>&lt;br&gt; </a:t>
            </a:r>
            <a:r>
              <a:rPr lang="vi-VN"/>
              <a:t>không cần tag đóng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4800" y="3157478"/>
            <a:ext cx="457200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align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="center"&gt;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Ai ơi bưng bát cơm đầy</a:t>
            </a: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br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Dẻo thơm một hạt đắng cay muôn phần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align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="center"&gt;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Ăn quả nhớ kẻ trồng cây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Ăn khoai nhớ kẻ cho dây mà trồng</a:t>
            </a: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773475"/>
            <a:ext cx="3962400" cy="140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556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tag cơ bản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Tag &lt;div&gt; - Division</a:t>
            </a:r>
            <a:endParaRPr lang="en-US"/>
          </a:p>
          <a:p>
            <a:pPr lvl="1"/>
            <a:r>
              <a:rPr lang="vi-VN"/>
              <a:t>Dùng để định nghĩa một section riêng trong trang web </a:t>
            </a:r>
          </a:p>
          <a:p>
            <a:pPr lvl="1"/>
            <a:r>
              <a:rPr lang="vi-VN"/>
              <a:t>Có thể chứa các tag khác như tag </a:t>
            </a:r>
            <a:r>
              <a:rPr lang="vi-VN" b="1"/>
              <a:t>&lt;h1&gt; </a:t>
            </a:r>
            <a:r>
              <a:rPr lang="vi-VN"/>
              <a:t>đến </a:t>
            </a:r>
            <a:r>
              <a:rPr lang="vi-VN" b="1"/>
              <a:t>&lt;h6&gt;, &lt;p&gt;,</a:t>
            </a:r>
            <a:r>
              <a:rPr lang="en-US"/>
              <a:t>…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5800" y="2817674"/>
            <a:ext cx="77724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div</a:t>
            </a:r>
            <a:r>
              <a:rPr lang="en-US">
                <a:highlight>
                  <a:srgbClr val="FFFFFF"/>
                </a:highlight>
              </a:rPr>
              <a:t> style="text-align: center;color: red;“&gt;</a:t>
            </a:r>
          </a:p>
          <a:p>
            <a:r>
              <a:rPr lang="pt-BR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pt-B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pt-BR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h2</a:t>
            </a:r>
            <a:r>
              <a:rPr lang="pt-B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pt-BR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Học Lập Trình Web</a:t>
            </a:r>
            <a:r>
              <a:rPr lang="pt-B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pt-BR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h2</a:t>
            </a:r>
            <a:r>
              <a:rPr lang="pt-B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pt-BR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h3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Học lập trình web từ cơ bản đến nâng cao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h3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div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7" y="4953000"/>
            <a:ext cx="5991225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514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tag cơ bản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Tag &lt;hr&gt; - Horizontal rule</a:t>
            </a:r>
            <a:endParaRPr lang="en-US"/>
          </a:p>
          <a:p>
            <a:pPr lvl="1"/>
            <a:r>
              <a:rPr lang="vi-VN"/>
              <a:t>Dùng để tạo ra một đường kẻ ngang</a:t>
            </a:r>
          </a:p>
          <a:p>
            <a:pPr lvl="1"/>
            <a:r>
              <a:rPr lang="vi-VN"/>
              <a:t>Thuộc tính </a:t>
            </a:r>
            <a:r>
              <a:rPr lang="vi-VN" b="1"/>
              <a:t>size</a:t>
            </a:r>
            <a:r>
              <a:rPr lang="vi-VN"/>
              <a:t> và </a:t>
            </a:r>
            <a:r>
              <a:rPr lang="vi-VN" b="1"/>
              <a:t>width</a:t>
            </a:r>
            <a:r>
              <a:rPr lang="vi-VN"/>
              <a:t> dùng để thay đổi độ rộng và chiều dài đường kẻ</a:t>
            </a:r>
          </a:p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5410200"/>
            <a:ext cx="4514850" cy="1327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914400" y="3226475"/>
            <a:ext cx="739140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div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align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="center"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style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red"&gt;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HocLapTrinhWeb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h3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Học lập trình web cơ bản đến nâng cao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h3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hr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width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="200px"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size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="5px"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="red"&gt;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div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7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tag cơ bản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Tag &lt;!-- </a:t>
            </a:r>
            <a:r>
              <a:rPr lang="en-US"/>
              <a:t>…</a:t>
            </a:r>
            <a:r>
              <a:rPr lang="vi-VN"/>
              <a:t> --&gt; - Comment</a:t>
            </a:r>
            <a:endParaRPr lang="en-US"/>
          </a:p>
          <a:p>
            <a:pPr lvl="1"/>
            <a:r>
              <a:rPr lang="vi-VN"/>
              <a:t>Dùng để ghi chú trong trang HTML, nội dung trong phần ghi chú không được thể hiện trên trình duyệt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5800" y="2667000"/>
            <a:ext cx="78486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div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align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="center"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style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red"&gt;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vi-VN">
                <a:solidFill>
                  <a:srgbClr val="006400"/>
                </a:solidFill>
                <a:highlight>
                  <a:srgbClr val="FFFFFF"/>
                </a:highlight>
                <a:latin typeface="Consolas"/>
              </a:rPr>
              <a:t>&lt;!-- hai dòng sau có màu đỏ --&gt;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h3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HocLapTrinhWeb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h3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h2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style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font-size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6px"&gt;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Học lập trình web cơ bản đến nâng cao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h2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div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0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Định dạng trang HTML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Sử dụng các thuộc tính của tag </a:t>
            </a:r>
            <a:r>
              <a:rPr lang="vi-VN" b="1"/>
              <a:t>&lt;body&gt; </a:t>
            </a:r>
            <a:r>
              <a:rPr lang="vi-VN"/>
              <a:t>để định dạng chung cho trang web</a:t>
            </a:r>
            <a:r>
              <a:rPr lang="en-US"/>
              <a:t>, p</a:t>
            </a:r>
            <a:r>
              <a:rPr lang="vi-VN"/>
              <a:t>hần định dạng gồm có:</a:t>
            </a:r>
          </a:p>
          <a:p>
            <a:pPr lvl="1"/>
            <a:r>
              <a:rPr lang="vi-VN"/>
              <a:t>Màu nền, màu chữ</a:t>
            </a:r>
          </a:p>
          <a:p>
            <a:pPr lvl="1"/>
            <a:r>
              <a:rPr lang="vi-VN"/>
              <a:t>Hình ảnh làm nền cho trang web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04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Định dạng trang HTML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Màu nền, màu chữ</a:t>
            </a:r>
            <a:endParaRPr lang="en-US"/>
          </a:p>
          <a:p>
            <a:pPr lvl="1"/>
            <a:r>
              <a:rPr lang="vi-VN"/>
              <a:t>Thuộc tính </a:t>
            </a:r>
            <a:r>
              <a:rPr lang="vi-VN" b="1"/>
              <a:t>bgcolor</a:t>
            </a:r>
            <a:r>
              <a:rPr lang="vi-VN"/>
              <a:t>: tô màu nền</a:t>
            </a:r>
          </a:p>
          <a:p>
            <a:pPr lvl="1"/>
            <a:r>
              <a:rPr lang="vi-VN"/>
              <a:t>Thuộc tính </a:t>
            </a:r>
            <a:r>
              <a:rPr lang="vi-VN" b="1"/>
              <a:t>text</a:t>
            </a:r>
            <a:r>
              <a:rPr lang="vi-VN"/>
              <a:t>: tô màu chữ</a:t>
            </a:r>
          </a:p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100848"/>
            <a:ext cx="273367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828800" y="2839793"/>
            <a:ext cx="55626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bgcolor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="#1CEE11"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text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="#F98504"&gt;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h1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align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="center"&gt;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Sunday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h1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3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Định dạng trang HTML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Hình ảnh nền</a:t>
            </a:r>
          </a:p>
          <a:p>
            <a:pPr lvl="1"/>
            <a:r>
              <a:rPr lang="vi-VN"/>
              <a:t>Thuộc tính </a:t>
            </a:r>
            <a:r>
              <a:rPr lang="vi-VN" b="1"/>
              <a:t>background</a:t>
            </a:r>
            <a:r>
              <a:rPr lang="vi-VN"/>
              <a:t>: </a:t>
            </a:r>
            <a:r>
              <a:rPr lang="en-US"/>
              <a:t>ảnh </a:t>
            </a:r>
            <a:r>
              <a:rPr lang="vi-VN"/>
              <a:t>nền</a:t>
            </a:r>
          </a:p>
          <a:p>
            <a:pPr lvl="1"/>
            <a:r>
              <a:rPr lang="vi-VN"/>
              <a:t>Thuộc tính </a:t>
            </a:r>
            <a:r>
              <a:rPr lang="vi-VN" b="1"/>
              <a:t>text</a:t>
            </a:r>
            <a:r>
              <a:rPr lang="vi-VN"/>
              <a:t>: tô màu chữ</a:t>
            </a:r>
          </a:p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86694" y="2839793"/>
            <a:ext cx="6895306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text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="#FF3399"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background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="pic1.jpg"&gt;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pt-BR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pt-B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pt-BR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h1</a:t>
            </a:r>
            <a:r>
              <a:rPr lang="pt-BR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pt-BR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align</a:t>
            </a:r>
            <a:r>
              <a:rPr lang="pt-B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="center"&gt;</a:t>
            </a:r>
            <a:r>
              <a:rPr lang="pt-BR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LẬP TRÌNH WEB</a:t>
            </a:r>
            <a:r>
              <a:rPr lang="pt-B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pt-BR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h1</a:t>
            </a:r>
            <a:r>
              <a:rPr lang="pt-B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pt-BR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87" y="4191000"/>
            <a:ext cx="6399213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847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Định dạng trang HTML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Hình ảnh nền: t</a:t>
            </a:r>
            <a:r>
              <a:rPr lang="vi-VN"/>
              <a:t>huộc tính Style kết hợp với các thông tin chi tiết, gồm:</a:t>
            </a:r>
          </a:p>
          <a:p>
            <a:pPr lvl="1"/>
            <a:r>
              <a:rPr lang="vi-VN" b="1"/>
              <a:t>background-image</a:t>
            </a:r>
            <a:r>
              <a:rPr lang="vi-VN"/>
              <a:t>: khai báo tập tin hình ảnh</a:t>
            </a:r>
          </a:p>
          <a:p>
            <a:pPr lvl="1"/>
            <a:r>
              <a:rPr lang="vi-VN" b="1"/>
              <a:t>background-repeat</a:t>
            </a:r>
            <a:r>
              <a:rPr lang="vi-VN"/>
              <a:t>: dạng lặp lại hình ảnh nền (no-repeat / repeat / repeat-x / repeat-y)</a:t>
            </a:r>
          </a:p>
          <a:p>
            <a:pPr lvl="1"/>
            <a:r>
              <a:rPr lang="vi-VN" b="1"/>
              <a:t>background-attachment</a:t>
            </a:r>
            <a:r>
              <a:rPr lang="vi-VN"/>
              <a:t>: hình ảnh cuộn theo nội dung trang web hay ở vị trí cố định (scroll / fixed)</a:t>
            </a:r>
          </a:p>
          <a:p>
            <a:pPr lvl="1"/>
            <a:r>
              <a:rPr lang="vi-VN" b="1"/>
              <a:t>background-position</a:t>
            </a:r>
            <a:r>
              <a:rPr lang="vi-VN"/>
              <a:t>: xác định vị trí xuất hiện hình ảnh (bottom / center / left / right / top)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96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Định dạng văn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Các tag định dạng:</a:t>
            </a:r>
          </a:p>
          <a:p>
            <a:pPr lvl="1"/>
            <a:r>
              <a:rPr lang="vi-VN" b="1"/>
              <a:t>&lt;b&gt;&lt;/b&gt; </a:t>
            </a:r>
            <a:r>
              <a:rPr lang="en-US"/>
              <a:t>(</a:t>
            </a:r>
            <a:r>
              <a:rPr lang="vi-VN"/>
              <a:t>bold</a:t>
            </a:r>
            <a:r>
              <a:rPr lang="en-US"/>
              <a:t>)</a:t>
            </a:r>
            <a:r>
              <a:rPr lang="vi-VN"/>
              <a:t>: in đậm</a:t>
            </a:r>
          </a:p>
          <a:p>
            <a:pPr lvl="1"/>
            <a:r>
              <a:rPr lang="vi-VN" b="1"/>
              <a:t>&lt;i&gt;&lt;/i&gt; </a:t>
            </a:r>
            <a:r>
              <a:rPr lang="en-US"/>
              <a:t>(</a:t>
            </a:r>
            <a:r>
              <a:rPr lang="vi-VN"/>
              <a:t>italic</a:t>
            </a:r>
            <a:r>
              <a:rPr lang="en-US"/>
              <a:t>)</a:t>
            </a:r>
            <a:r>
              <a:rPr lang="vi-VN"/>
              <a:t>: in nghiêng</a:t>
            </a:r>
          </a:p>
          <a:p>
            <a:pPr lvl="1"/>
            <a:r>
              <a:rPr lang="vi-VN" b="1"/>
              <a:t>&lt;u&gt;&lt;/u&gt; </a:t>
            </a:r>
            <a:r>
              <a:rPr lang="en-US"/>
              <a:t>(</a:t>
            </a:r>
            <a:r>
              <a:rPr lang="vi-VN"/>
              <a:t>underline</a:t>
            </a:r>
            <a:r>
              <a:rPr lang="en-US"/>
              <a:t>)</a:t>
            </a:r>
            <a:r>
              <a:rPr lang="vi-VN"/>
              <a:t>: gạch dưới</a:t>
            </a:r>
            <a:endParaRPr lang="en-US"/>
          </a:p>
          <a:p>
            <a:pPr lvl="1"/>
            <a:r>
              <a:rPr lang="vi-VN" b="1"/>
              <a:t>&lt;</a:t>
            </a:r>
            <a:r>
              <a:rPr lang="en-US" b="1"/>
              <a:t>mark</a:t>
            </a:r>
            <a:r>
              <a:rPr lang="vi-VN" b="1"/>
              <a:t>&gt;&lt;/</a:t>
            </a:r>
            <a:r>
              <a:rPr lang="en-US" b="1"/>
              <a:t>mark</a:t>
            </a:r>
            <a:r>
              <a:rPr lang="vi-VN" b="1"/>
              <a:t>&gt;</a:t>
            </a:r>
            <a:r>
              <a:rPr lang="vi-VN"/>
              <a:t>: </a:t>
            </a:r>
            <a:r>
              <a:rPr lang="en-US"/>
              <a:t>đánh dấu (highlight)</a:t>
            </a:r>
          </a:p>
          <a:p>
            <a:pPr lvl="1"/>
            <a:r>
              <a:rPr lang="vi-VN" b="1"/>
              <a:t>&lt;</a:t>
            </a:r>
            <a:r>
              <a:rPr lang="en-US" b="1"/>
              <a:t>del</a:t>
            </a:r>
            <a:r>
              <a:rPr lang="vi-VN" b="1"/>
              <a:t>&gt;&lt;</a:t>
            </a:r>
            <a:r>
              <a:rPr lang="en-US" b="1"/>
              <a:t>/del</a:t>
            </a:r>
            <a:r>
              <a:rPr lang="vi-VN" b="1"/>
              <a:t>&gt;</a:t>
            </a:r>
            <a:r>
              <a:rPr lang="en-US" b="1"/>
              <a:t> </a:t>
            </a:r>
            <a:r>
              <a:rPr lang="en-US"/>
              <a:t>(delete)</a:t>
            </a:r>
            <a:r>
              <a:rPr lang="vi-VN"/>
              <a:t>: </a:t>
            </a:r>
            <a:r>
              <a:rPr lang="en-US"/>
              <a:t>xóa</a:t>
            </a:r>
          </a:p>
          <a:p>
            <a:pPr lvl="1"/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5800" y="4114800"/>
            <a:ext cx="77724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&lt;b&gt;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Dòng in đậm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&lt;/b&gt;&lt;br/&gt;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&lt;i&gt;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Dòng in nghiêng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&lt;/i&gt;&lt;br/&gt;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&lt;u&gt;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Dòng gạch dưới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&lt;/u&gt;&lt;br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&lt;mark&gt;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Dòng in đậm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&lt;/mark&gt;&lt;br/&gt;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&lt;del&gt;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Dòng in nghiêng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&lt;/del&gt;&lt;br/&gt;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&lt;b&gt;&lt;i&gt;&lt;u&gt;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Dòng in đậm, nghiêng, gạch dưới</a:t>
            </a:r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&lt;/u&gt;&lt;/i&gt;&lt;/b&gt;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vi-VN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834" y="3783874"/>
            <a:ext cx="3528366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Định dạng văn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Các tag định dạng:</a:t>
            </a:r>
          </a:p>
          <a:p>
            <a:pPr lvl="1"/>
            <a:r>
              <a:rPr lang="vi-VN" b="1"/>
              <a:t>&lt;sub&gt;&lt;/sub&gt; </a:t>
            </a:r>
            <a:r>
              <a:rPr lang="en-US"/>
              <a:t>(</a:t>
            </a:r>
            <a:r>
              <a:rPr lang="vi-VN"/>
              <a:t>subscript</a:t>
            </a:r>
            <a:r>
              <a:rPr lang="en-US"/>
              <a:t>)</a:t>
            </a:r>
            <a:r>
              <a:rPr lang="vi-VN"/>
              <a:t>: chữ dưới</a:t>
            </a:r>
          </a:p>
          <a:p>
            <a:pPr lvl="1"/>
            <a:r>
              <a:rPr lang="vi-VN" b="1"/>
              <a:t>&lt;sup&gt;&lt;/sup&gt; </a:t>
            </a:r>
            <a:r>
              <a:rPr lang="en-US"/>
              <a:t>(</a:t>
            </a:r>
            <a:r>
              <a:rPr lang="vi-VN"/>
              <a:t>superscript</a:t>
            </a:r>
            <a:r>
              <a:rPr lang="en-US"/>
              <a:t>)</a:t>
            </a:r>
            <a:r>
              <a:rPr lang="vi-VN"/>
              <a:t>: chữ trên</a:t>
            </a:r>
          </a:p>
          <a:p>
            <a:pPr lvl="1"/>
            <a:r>
              <a:rPr lang="vi-VN" b="1"/>
              <a:t>&lt;pre&gt;&lt;/pre&gt;</a:t>
            </a:r>
            <a:r>
              <a:rPr lang="en-US" b="1"/>
              <a:t> </a:t>
            </a:r>
            <a:r>
              <a:rPr lang="en-US"/>
              <a:t>(</a:t>
            </a:r>
            <a:r>
              <a:rPr lang="vi-VN"/>
              <a:t>preformatted</a:t>
            </a:r>
            <a:r>
              <a:rPr lang="en-US"/>
              <a:t>)</a:t>
            </a:r>
            <a:r>
              <a:rPr lang="vi-VN"/>
              <a:t>: giữ nguyên định dạng trong trang 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3733800"/>
            <a:ext cx="388620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pre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ax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sup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sup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bx + c 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hoặc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sub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sub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O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pre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995230"/>
            <a:ext cx="4016918" cy="150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932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Định dạng văn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Thuộc tính style:</a:t>
            </a:r>
          </a:p>
          <a:p>
            <a:pPr lvl="1"/>
            <a:r>
              <a:rPr lang="vi-VN" b="1"/>
              <a:t>font-size</a:t>
            </a:r>
            <a:r>
              <a:rPr lang="vi-VN"/>
              <a:t>: khổ chữ </a:t>
            </a:r>
          </a:p>
          <a:p>
            <a:pPr lvl="1"/>
            <a:r>
              <a:rPr lang="vi-VN" b="1"/>
              <a:t>font-style</a:t>
            </a:r>
            <a:r>
              <a:rPr lang="vi-VN"/>
              <a:t>: kiểu chữ</a:t>
            </a:r>
          </a:p>
          <a:p>
            <a:pPr lvl="1"/>
            <a:r>
              <a:rPr lang="vi-VN" b="1"/>
              <a:t>font-family</a:t>
            </a:r>
            <a:r>
              <a:rPr lang="vi-VN"/>
              <a:t>: tên font chữ</a:t>
            </a:r>
          </a:p>
          <a:p>
            <a:pPr lvl="1"/>
            <a:r>
              <a:rPr lang="vi-VN" b="1"/>
              <a:t>font-weight</a:t>
            </a:r>
            <a:r>
              <a:rPr lang="vi-VN"/>
              <a:t>: nét chữ (đậm hoặc chọn kích thước)</a:t>
            </a:r>
          </a:p>
          <a:p>
            <a:pPr lvl="1"/>
            <a:r>
              <a:rPr lang="vi-VN" b="1"/>
              <a:t>color</a:t>
            </a:r>
            <a:r>
              <a:rPr lang="vi-VN"/>
              <a:t>: màu chữ</a:t>
            </a:r>
          </a:p>
          <a:p>
            <a:pPr lvl="1"/>
            <a:r>
              <a:rPr lang="vi-VN" b="1"/>
              <a:t>text-decoration</a:t>
            </a:r>
            <a:r>
              <a:rPr lang="vi-VN"/>
              <a:t>: gạch dưới, gạch trên, gạch bỏ hoặc bỏ hết các định dạng</a:t>
            </a:r>
          </a:p>
          <a:p>
            <a:pPr lvl="1"/>
            <a:r>
              <a:rPr lang="vi-VN" b="1"/>
              <a:t>background-color</a:t>
            </a:r>
            <a:r>
              <a:rPr lang="vi-VN"/>
              <a:t>: màu nền</a:t>
            </a:r>
          </a:p>
          <a:p>
            <a:pPr lvl="1"/>
            <a:r>
              <a:rPr lang="vi-VN" b="1"/>
              <a:t>border-color</a:t>
            </a:r>
            <a:r>
              <a:rPr lang="vi-VN"/>
              <a:t>: màu đường viền</a:t>
            </a:r>
          </a:p>
          <a:p>
            <a:pPr lvl="1"/>
            <a:r>
              <a:rPr lang="vi-VN" b="1"/>
              <a:t>border-style</a:t>
            </a:r>
            <a:r>
              <a:rPr lang="vi-VN"/>
              <a:t>: kiểu đường viền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10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Hiển thị các ký tự đặc biệt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/>
              <a:t>Các ký tự đặc biệt: &lt;, &gt;,</a:t>
            </a:r>
            <a:r>
              <a:rPr lang="en-US"/>
              <a:t> </a:t>
            </a:r>
            <a:r>
              <a:rPr lang="en-US">
                <a:latin typeface="Tahoma"/>
                <a:ea typeface="Tahoma"/>
                <a:cs typeface="Tahoma"/>
                <a:sym typeface="Wingdings"/>
              </a:rPr>
              <a:t>©, ®,</a:t>
            </a:r>
            <a:r>
              <a:rPr lang="vi-VN"/>
              <a:t>... </a:t>
            </a:r>
          </a:p>
          <a:p>
            <a:r>
              <a:rPr lang="vi-VN"/>
              <a:t>HTML cung cấp các giá trị đặc biệt tương ứng với các ký tự này</a:t>
            </a:r>
          </a:p>
          <a:p>
            <a:r>
              <a:rPr lang="vi-VN"/>
              <a:t>Có 3 thành phần để tạo ra ký tự đặc biệt</a:t>
            </a:r>
          </a:p>
          <a:p>
            <a:r>
              <a:rPr lang="en-US"/>
              <a:t>Ví dụ: </a:t>
            </a:r>
            <a:r>
              <a:rPr lang="vi-VN"/>
              <a:t>&amp;copy; </a:t>
            </a:r>
            <a:r>
              <a:rPr lang="en-US"/>
              <a:t>(</a:t>
            </a:r>
            <a:r>
              <a:rPr lang="vi-VN"/>
              <a:t>hoặc &amp;#169;</a:t>
            </a:r>
            <a:r>
              <a:rPr lang="en-US"/>
              <a:t>) </a:t>
            </a:r>
            <a:r>
              <a:rPr lang="en-US">
                <a:sym typeface="Wingdings"/>
              </a:rPr>
              <a:t> </a:t>
            </a:r>
            <a:r>
              <a:rPr lang="en-US">
                <a:latin typeface="Tahoma"/>
                <a:ea typeface="Tahoma"/>
                <a:cs typeface="Tahoma"/>
                <a:sym typeface="Wingdings"/>
              </a:rPr>
              <a:t>©</a:t>
            </a:r>
            <a:endParaRPr lang="en-US"/>
          </a:p>
          <a:p>
            <a:pPr lvl="1"/>
            <a:r>
              <a:rPr lang="en-US"/>
              <a:t>&amp;: Dấu &amp;</a:t>
            </a:r>
          </a:p>
          <a:p>
            <a:pPr lvl="1"/>
            <a:r>
              <a:rPr lang="en-US"/>
              <a:t>copy: tên đại diện (hoặc #169: mã ASCII)</a:t>
            </a:r>
          </a:p>
          <a:p>
            <a:pPr lvl="1"/>
            <a:r>
              <a:rPr lang="en-US"/>
              <a:t>;: dấu ;</a:t>
            </a:r>
          </a:p>
          <a:p>
            <a:r>
              <a:rPr lang="vi-VN"/>
              <a:t>Tên đại diện phân biệt chữ HOA/thường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13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Hình ảnh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Chèn hình ảnh vào trang web</a:t>
            </a:r>
          </a:p>
          <a:p>
            <a:pPr lvl="1"/>
            <a:r>
              <a:rPr lang="vi-VN"/>
              <a:t>Dùng tag </a:t>
            </a:r>
            <a:r>
              <a:rPr lang="vi-VN" b="1"/>
              <a:t>&lt;img&gt; </a:t>
            </a:r>
            <a:r>
              <a:rPr lang="vi-VN"/>
              <a:t>và thuộc tính </a:t>
            </a:r>
            <a:r>
              <a:rPr lang="vi-VN" b="1"/>
              <a:t>src</a:t>
            </a:r>
            <a:r>
              <a:rPr lang="vi-VN"/>
              <a:t> để khai báo URL chứa tập tin hình ảnh</a:t>
            </a:r>
            <a:endParaRPr lang="en-US"/>
          </a:p>
          <a:p>
            <a:pPr lvl="1"/>
            <a:r>
              <a:rPr lang="vi-VN"/>
              <a:t>Thuộc tính </a:t>
            </a:r>
            <a:r>
              <a:rPr lang="en-US" b="1"/>
              <a:t>title</a:t>
            </a:r>
            <a:r>
              <a:rPr lang="vi-VN"/>
              <a:t>: xuất câu thông báo </a:t>
            </a:r>
            <a:r>
              <a:rPr lang="en-US"/>
              <a:t>khi di chuyển con trỏ lại ảnh</a:t>
            </a:r>
            <a:endParaRPr lang="vi-VN"/>
          </a:p>
          <a:p>
            <a:pPr lvl="1"/>
            <a:r>
              <a:rPr lang="vi-VN"/>
              <a:t>Thuộc tính </a:t>
            </a:r>
            <a:r>
              <a:rPr lang="vi-VN" b="1"/>
              <a:t>alt</a:t>
            </a:r>
            <a:r>
              <a:rPr lang="vi-VN"/>
              <a:t>: xuất câu thông báo nếu tập tin </a:t>
            </a:r>
            <a:r>
              <a:rPr lang="en-US"/>
              <a:t>ảnh</a:t>
            </a:r>
            <a:r>
              <a:rPr lang="vi-VN"/>
              <a:t> không tồn tại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087088"/>
            <a:ext cx="3662589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04800" y="4343400"/>
            <a:ext cx="49530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img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src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="pic2.jpg"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title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="ảnh đẹp"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alt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="Không có ảnh"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width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="200"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height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="150"&gt;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ảnh đẹp</a:t>
            </a: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6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Hình ảnh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Định dạng hình ảnh</a:t>
            </a:r>
            <a:endParaRPr lang="vi-VN"/>
          </a:p>
          <a:p>
            <a:pPr lvl="1"/>
            <a:r>
              <a:rPr lang="vi-VN" b="1"/>
              <a:t>width, height</a:t>
            </a:r>
            <a:r>
              <a:rPr lang="vi-VN"/>
              <a:t>: độ rộng và chiều cao hình, tính bằng pixel (mặc định) hoặc %</a:t>
            </a:r>
          </a:p>
          <a:p>
            <a:pPr lvl="1"/>
            <a:r>
              <a:rPr lang="vi-VN" b="1"/>
              <a:t>align</a:t>
            </a:r>
            <a:r>
              <a:rPr lang="vi-VN"/>
              <a:t>: định vị trí xuất hiện của hình so với đọan văn bản một cách tương đối (left, right,…)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94" y="4419600"/>
            <a:ext cx="8677275" cy="1834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66800" y="3551872"/>
            <a:ext cx="52578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img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src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="pic2.jpg"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align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="right"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title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="ảnh đẹp"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alt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="Không có ảnh"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width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="200"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height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="150"&gt;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ảnh đẹp</a:t>
            </a: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2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Tạo danh sách có thứ tự - Ordered Lists</a:t>
            </a:r>
          </a:p>
          <a:p>
            <a:pPr lvl="1"/>
            <a:r>
              <a:rPr lang="vi-VN"/>
              <a:t>Dùng tag </a:t>
            </a:r>
            <a:r>
              <a:rPr lang="vi-VN" b="1"/>
              <a:t>&lt;li&gt; </a:t>
            </a:r>
            <a:r>
              <a:rPr lang="vi-VN"/>
              <a:t>kết hợp với tag </a:t>
            </a:r>
            <a:r>
              <a:rPr lang="vi-VN" b="1"/>
              <a:t>&lt;ol&gt;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" y="2286000"/>
            <a:ext cx="457200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h3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style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#663333"&gt;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Thực đơn giải khát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h3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ol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li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Cafe đá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li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li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Coca cola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li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li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Chanh muối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li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ol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762250"/>
            <a:ext cx="3285460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088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Tạo d</a:t>
            </a:r>
            <a:r>
              <a:rPr lang="en-US"/>
              <a:t>anh </a:t>
            </a:r>
            <a:r>
              <a:rPr lang="vi-VN"/>
              <a:t>sách không có thứ tự - UnOrdered Lists</a:t>
            </a:r>
          </a:p>
          <a:p>
            <a:pPr lvl="1"/>
            <a:r>
              <a:rPr lang="vi-VN"/>
              <a:t>Dùng tag </a:t>
            </a:r>
            <a:r>
              <a:rPr lang="vi-VN" b="1"/>
              <a:t>&lt;li&gt; </a:t>
            </a:r>
            <a:r>
              <a:rPr lang="vi-VN"/>
              <a:t>kết hợp với tag </a:t>
            </a:r>
            <a:r>
              <a:rPr lang="vi-VN" b="1"/>
              <a:t>&lt;ul&gt;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90600" y="2286000"/>
            <a:ext cx="457200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h3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style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#663333"&gt;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Thực đơn giải khát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h3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ul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li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Cafe đá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li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li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Coca cola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li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li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Chanh muối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li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ul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199" y="2819400"/>
            <a:ext cx="3006179" cy="1828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031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Thay đổi ký hiệu đầu dòng trong danh sách</a:t>
            </a:r>
          </a:p>
          <a:p>
            <a:pPr lvl="1"/>
            <a:r>
              <a:rPr lang="en-US"/>
              <a:t>Sử dụng t</a:t>
            </a:r>
            <a:r>
              <a:rPr lang="vi-VN"/>
              <a:t>huộc tính </a:t>
            </a:r>
            <a:r>
              <a:rPr lang="vi-VN" b="1"/>
              <a:t>type</a:t>
            </a:r>
            <a:r>
              <a:rPr lang="vi-VN"/>
              <a:t> của tag </a:t>
            </a:r>
            <a:r>
              <a:rPr lang="vi-VN" b="1"/>
              <a:t>&lt;ul&gt; </a:t>
            </a:r>
            <a:r>
              <a:rPr lang="vi-VN"/>
              <a:t>và </a:t>
            </a:r>
            <a:r>
              <a:rPr lang="vi-VN" b="1"/>
              <a:t>&lt;ol&gt;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286000"/>
            <a:ext cx="7239000" cy="33098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0045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Chèn Video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6929A-AD6F-585B-2568-DC7494217EE7}"/>
              </a:ext>
            </a:extLst>
          </p:cNvPr>
          <p:cNvSpPr txBox="1"/>
          <p:nvPr/>
        </p:nvSpPr>
        <p:spPr>
          <a:xfrm>
            <a:off x="152400" y="1616889"/>
            <a:ext cx="8915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 &lt;video width="700" height="450" controls&gt;</a:t>
            </a:r>
          </a:p>
          <a:p>
            <a:r>
              <a:rPr lang="en-US" sz="2800"/>
              <a:t>    &lt;source src="../Media/video.mp4" type="video/mp4"&gt;</a:t>
            </a:r>
          </a:p>
          <a:p>
            <a:r>
              <a:rPr lang="en-US" sz="2800"/>
              <a:t>   &lt;/video&gt;</a:t>
            </a:r>
          </a:p>
        </p:txBody>
      </p:sp>
    </p:spTree>
    <p:extLst>
      <p:ext uri="{BB962C8B-B14F-4D97-AF65-F5344CB8AC3E}">
        <p14:creationId xmlns:p14="http://schemas.microsoft.com/office/powerpoint/2010/main" val="502579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B8EE9-37A4-FFA8-6EF1-B362A1DDD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3CC62-B444-83AC-D303-D9D6FF26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Liên kết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697E3-1FD9-758D-2BE5-06858B1F4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Liên kết đến một trang</a:t>
            </a:r>
            <a:r>
              <a:rPr lang="en-US"/>
              <a:t> khác</a:t>
            </a:r>
            <a:endParaRPr lang="vi-VN"/>
          </a:p>
          <a:p>
            <a:pPr lvl="1"/>
            <a:r>
              <a:rPr lang="en-US"/>
              <a:t>T</a:t>
            </a:r>
            <a:r>
              <a:rPr lang="vi-VN"/>
              <a:t>ag </a:t>
            </a:r>
            <a:r>
              <a:rPr lang="vi-VN" b="1"/>
              <a:t>&lt;a&gt; </a:t>
            </a:r>
            <a:r>
              <a:rPr lang="vi-VN"/>
              <a:t>kết hợp với thuộc tính</a:t>
            </a:r>
            <a:r>
              <a:rPr lang="vi-VN" b="1"/>
              <a:t> href </a:t>
            </a:r>
            <a:r>
              <a:rPr lang="vi-VN"/>
              <a:t>(Hyperlink Reference) </a:t>
            </a:r>
          </a:p>
          <a:p>
            <a:pPr lvl="1"/>
            <a:r>
              <a:rPr lang="en-US"/>
              <a:t>Cú pháp: </a:t>
            </a:r>
            <a:r>
              <a:rPr lang="vi-VN"/>
              <a:t>&lt;a href="địa chỉ URL"&gt;Nội dung tag&lt;/a&gt;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5DCDF-D385-A8B6-4B69-451CD925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1CBFC6-D99B-7695-C696-BFA3303ED2AB}"/>
              </a:ext>
            </a:extLst>
          </p:cNvPr>
          <p:cNvSpPr/>
          <p:nvPr/>
        </p:nvSpPr>
        <p:spPr>
          <a:xfrm>
            <a:off x="838200" y="2743200"/>
            <a:ext cx="74676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Click vào đây để chuyển đến trang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a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href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vi-VN">
                <a:solidFill>
                  <a:srgbClr val="0000FF"/>
                </a:solidFill>
                <a:latin typeface="Consolas"/>
              </a:rPr>
              <a:t>https://nau.edu.vn/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"&gt;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Trường Đại học 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Nghệ An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a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8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Liên kết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Liên kết đến </a:t>
            </a:r>
            <a:r>
              <a:rPr lang="en-US"/>
              <a:t>trong cùng </a:t>
            </a:r>
            <a:r>
              <a:rPr lang="vi-VN"/>
              <a:t>một trang</a:t>
            </a:r>
          </a:p>
          <a:p>
            <a:pPr lvl="1"/>
            <a:r>
              <a:rPr lang="vi-VN"/>
              <a:t>Đánh dấu vị trí cần chuyển đến: dùng thuộc tính </a:t>
            </a:r>
            <a:r>
              <a:rPr lang="vi-VN" b="1"/>
              <a:t>name</a:t>
            </a:r>
          </a:p>
          <a:p>
            <a:pPr lvl="1"/>
            <a:r>
              <a:rPr lang="vi-VN"/>
              <a:t>Dùng tag </a:t>
            </a:r>
            <a:r>
              <a:rPr lang="vi-VN" b="1"/>
              <a:t>&lt;a&gt; </a:t>
            </a:r>
            <a:r>
              <a:rPr lang="vi-VN"/>
              <a:t>và thuộc tính </a:t>
            </a:r>
            <a:r>
              <a:rPr lang="vi-VN" b="1"/>
              <a:t>href</a:t>
            </a:r>
            <a:r>
              <a:rPr lang="vi-VN"/>
              <a:t> để tạo liên kết đến</a:t>
            </a:r>
            <a:endParaRPr lang="en-US"/>
          </a:p>
          <a:p>
            <a:pPr lvl="1"/>
            <a:r>
              <a:rPr lang="en-US"/>
              <a:t>Cú pháp: &lt;a name=“tên bookmark"&gt;Nội dung tag&lt;/a&gt;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3607475"/>
            <a:ext cx="563880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a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name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="dautrang"&gt;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Phần đầu trang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a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....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Nội dung trang web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....</a:t>
            </a: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a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href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="#dautrang"&gt;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Về đầu trang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a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276600"/>
            <a:ext cx="2343150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881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Liên kết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Liên kết đến địa chỉ email</a:t>
            </a:r>
          </a:p>
          <a:p>
            <a:pPr lvl="1"/>
            <a:r>
              <a:rPr lang="en-US"/>
              <a:t>Cú pháp: &lt;a href=“mailto:Địa chỉ email"&gt; Nội dung tag &lt;/a&gt;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90600" y="2286000"/>
            <a:ext cx="73914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pt-BR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pt-B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pt-BR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a</a:t>
            </a:r>
            <a:r>
              <a:rPr lang="pt-BR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pt-BR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href</a:t>
            </a:r>
            <a:r>
              <a:rPr lang="pt-B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="mailto:noname@gmail.com"&gt;</a:t>
            </a:r>
            <a:r>
              <a:rPr lang="pt-BR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Liên hệ</a:t>
            </a:r>
            <a:r>
              <a:rPr lang="pt-B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pt-BR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a</a:t>
            </a:r>
            <a:r>
              <a:rPr lang="pt-B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pt-BR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657600"/>
            <a:ext cx="10191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011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Bảng biểu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Tạo bảng biểu</a:t>
            </a:r>
          </a:p>
          <a:p>
            <a:pPr lvl="1"/>
            <a:r>
              <a:rPr lang="en-US"/>
              <a:t>Sử dụng bộ tag </a:t>
            </a:r>
            <a:r>
              <a:rPr lang="en-US" b="1"/>
              <a:t>&lt;table&gt;, &lt;tr&gt; </a:t>
            </a:r>
            <a:r>
              <a:rPr lang="en-US"/>
              <a:t>(table row) và </a:t>
            </a:r>
            <a:r>
              <a:rPr lang="en-US" b="1"/>
              <a:t>&lt;td&gt; </a:t>
            </a:r>
            <a:r>
              <a:rPr lang="en-US"/>
              <a:t>(table data)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5" name="Group 19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397202"/>
              </p:ext>
            </p:extLst>
          </p:nvPr>
        </p:nvGraphicFramePr>
        <p:xfrm>
          <a:off x="746125" y="2743200"/>
          <a:ext cx="7788275" cy="1828800"/>
        </p:xfrm>
        <a:graphic>
          <a:graphicData uri="http://schemas.openxmlformats.org/drawingml/2006/table">
            <a:tbl>
              <a:tblPr/>
              <a:tblGrid>
                <a:gridCol w="118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6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4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&lt;table&gt;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94464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94464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94464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94464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94464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&lt;tr&gt;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&lt;td&gt;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nội dung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&lt;/td&gt;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&lt;td&gt;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nội dung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&lt;/td&gt;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&lt;/tr&gt;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94464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&lt;tr&gt;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&lt;td&gt;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nội dung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 &lt;/td&gt;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&lt;td&gt;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nội dung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 &lt;/td&gt;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&lt;/tr&gt;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94464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194464"/>
                          </a:solidFill>
                          <a:effectLst/>
                          <a:latin typeface="Arial" charset="0"/>
                        </a:rPr>
                        <a:t>&lt;/table&gt;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94464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94464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94464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921A"/>
                        </a:buClr>
                        <a:buSzPct val="150000"/>
                        <a:buFontTx/>
                        <a:buNone/>
                        <a:tabLst>
                          <a:tab pos="914400" algn="l"/>
                          <a:tab pos="1379538" algn="l"/>
                          <a:tab pos="1828800" algn="l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194464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88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Bảng biểu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Tạo bảng biểu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3400" y="1828800"/>
            <a:ext cx="4724400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table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border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="1"&gt;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Dòng 1, cột 1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Dòng 1, cột 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Dòng 2,  cột 1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Dòng 2, cột 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table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048000"/>
            <a:ext cx="3552825" cy="102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703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Bảng biểu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Tạo bảng biểu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3400" y="1752600"/>
            <a:ext cx="8077200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table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border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="1"&gt;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width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="200"&gt;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Dòng 1, cột 1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width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="150"&gt;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Dòng 1, cột 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Dòng 2, cột 1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Dòng 2, cột 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table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57800"/>
            <a:ext cx="7455394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6828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Bảng biểu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Trộn cột trong bảng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3400" y="1752600"/>
            <a:ext cx="7924800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table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border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="1"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width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="400"&gt;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width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="20%"&gt;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Tên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colspan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="2"&gt;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Nguyễn Văn Nam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Điện thoại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02383.246.236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0979.884.562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table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715000"/>
            <a:ext cx="7162800" cy="99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743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Bảng biểu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Định dạng bảng</a:t>
            </a:r>
          </a:p>
          <a:p>
            <a:pPr lvl="1"/>
            <a:r>
              <a:rPr lang="en-US"/>
              <a:t>Sử dụng các thuộc tính của tag </a:t>
            </a:r>
            <a:r>
              <a:rPr lang="en-US" b="1"/>
              <a:t>&lt;table&gt;</a:t>
            </a:r>
          </a:p>
          <a:p>
            <a:pPr lvl="1"/>
            <a:r>
              <a:rPr lang="en-US"/>
              <a:t>Tạo khoảng cách giữa các cell</a:t>
            </a:r>
          </a:p>
          <a:p>
            <a:pPr lvl="2"/>
            <a:r>
              <a:rPr lang="en-US" b="1"/>
              <a:t>cellpadding</a:t>
            </a:r>
            <a:r>
              <a:rPr lang="en-US"/>
              <a:t>: khoảng cách từ biên của cell tới nội dung trong cell</a:t>
            </a:r>
          </a:p>
          <a:p>
            <a:pPr lvl="2"/>
            <a:r>
              <a:rPr lang="en-US" b="1"/>
              <a:t>cellspacing</a:t>
            </a:r>
            <a:r>
              <a:rPr lang="en-US"/>
              <a:t>: khoảng cách giữa các cell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86" y="3870615"/>
            <a:ext cx="7992414" cy="257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853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Bảng biểu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Định dạng bảng</a:t>
            </a:r>
          </a:p>
          <a:p>
            <a:pPr lvl="1"/>
            <a:r>
              <a:rPr lang="vi-VN"/>
              <a:t>Tạo tiêu đề, canh lề và tô màu nền cho table</a:t>
            </a:r>
          </a:p>
          <a:p>
            <a:pPr lvl="2"/>
            <a:r>
              <a:rPr lang="vi-VN"/>
              <a:t>Tag </a:t>
            </a:r>
            <a:r>
              <a:rPr lang="vi-VN" b="1"/>
              <a:t>&lt;caption&gt;</a:t>
            </a:r>
            <a:r>
              <a:rPr lang="vi-VN"/>
              <a:t>: tạo tiêu đề, phải đặt ngay sau tag </a:t>
            </a:r>
            <a:r>
              <a:rPr lang="vi-VN" b="1"/>
              <a:t>&lt;table&gt;</a:t>
            </a:r>
          </a:p>
          <a:p>
            <a:pPr lvl="2"/>
            <a:r>
              <a:rPr lang="vi-VN" b="1"/>
              <a:t>alig</a:t>
            </a:r>
            <a:r>
              <a:rPr lang="en-US" b="1"/>
              <a:t>n</a:t>
            </a:r>
            <a:r>
              <a:rPr lang="vi-VN"/>
              <a:t>: canh lề cho table</a:t>
            </a:r>
          </a:p>
          <a:p>
            <a:pPr lvl="2"/>
            <a:r>
              <a:rPr lang="vi-VN" b="1"/>
              <a:t>bgcolor</a:t>
            </a:r>
            <a:r>
              <a:rPr lang="vi-VN"/>
              <a:t>: tô màu nền</a:t>
            </a:r>
          </a:p>
          <a:p>
            <a:pPr lvl="2"/>
            <a:r>
              <a:rPr lang="vi-VN" b="1"/>
              <a:t>background</a:t>
            </a:r>
            <a:r>
              <a:rPr lang="vi-VN"/>
              <a:t>: hình làm nền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947364"/>
            <a:ext cx="5552896" cy="2758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576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Bảng biểu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Định dạng bảng</a:t>
            </a:r>
          </a:p>
          <a:p>
            <a:pPr lvl="1"/>
            <a:r>
              <a:rPr lang="vi-VN"/>
              <a:t>Tạo tiêu đề, canh lề và tô màu nền cho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200" y="2209800"/>
            <a:ext cx="8153400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table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align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="center"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cellspacing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="5"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cellpadding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="15"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border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="5"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width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="400"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bgcolor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="#DFFDC4"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bordercolor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="#0E721F"&gt;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caption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style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font-weight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bold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font-size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18px"&gt;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Thông tin cá nhân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caption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width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="60%"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align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="center"&gt;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Tên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align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="center"&gt;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Điện thoại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rowspan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="2"&gt;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Phạm Ngọc Thiên Thanh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8351056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0909039999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table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3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vi-VN"/>
              <a:t>Tạo form</a:t>
            </a:r>
          </a:p>
          <a:p>
            <a:pPr marL="457200" indent="-457200">
              <a:buFont typeface="+mj-lt"/>
              <a:buAutoNum type="arabicPeriod"/>
            </a:pPr>
            <a:r>
              <a:rPr lang="vi-VN"/>
              <a:t>Các điều khiển cơ bản – Tag &lt;input&gt;</a:t>
            </a:r>
          </a:p>
          <a:p>
            <a:pPr marL="457200" indent="-457200">
              <a:buFont typeface="+mj-lt"/>
              <a:buAutoNum type="arabicPeriod"/>
            </a:pPr>
            <a:r>
              <a:rPr lang="vi-VN"/>
              <a:t>Một số điều khiển khác</a:t>
            </a:r>
          </a:p>
          <a:p>
            <a:pPr marL="457200" indent="-457200">
              <a:buFont typeface="+mj-lt"/>
              <a:buAutoNum type="arabicPeriod"/>
            </a:pPr>
            <a:r>
              <a:rPr lang="vi-VN"/>
              <a:t>Các sự kiện cơ bản</a:t>
            </a:r>
          </a:p>
          <a:p>
            <a:pPr marL="457200" indent="-457200">
              <a:buFont typeface="+mj-lt"/>
              <a:buAutoNum type="arabicPeriod"/>
            </a:pPr>
            <a:r>
              <a:rPr lang="vi-VN"/>
              <a:t>Xử lý hiển thị kết quả lên trang web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062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Tạo 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200400" y="1981200"/>
            <a:ext cx="45720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form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name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="tên form"&gt;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input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select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select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textarea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textarea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...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form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sp>
        <p:nvSpPr>
          <p:cNvPr id="7" name="AutoShape 9"/>
          <p:cNvSpPr>
            <a:spLocks/>
          </p:cNvSpPr>
          <p:nvPr/>
        </p:nvSpPr>
        <p:spPr bwMode="auto">
          <a:xfrm>
            <a:off x="2982913" y="2631330"/>
            <a:ext cx="141287" cy="1008063"/>
          </a:xfrm>
          <a:prstGeom prst="leftBrace">
            <a:avLst>
              <a:gd name="adj1" fmla="val 59457"/>
              <a:gd name="adj2" fmla="val 50000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143000" y="2793642"/>
            <a:ext cx="1763712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Các tag tạo điều khiển trên form</a:t>
            </a:r>
          </a:p>
        </p:txBody>
      </p:sp>
    </p:spTree>
    <p:extLst>
      <p:ext uri="{BB962C8B-B14F-4D97-AF65-F5344CB8AC3E}">
        <p14:creationId xmlns:p14="http://schemas.microsoft.com/office/powerpoint/2010/main" val="36162124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Điều khiển cơ bản</a:t>
            </a:r>
          </a:p>
          <a:p>
            <a:pPr lvl="1"/>
            <a:r>
              <a:rPr lang="vi-VN"/>
              <a:t>Tag </a:t>
            </a:r>
            <a:r>
              <a:rPr lang="vi-VN" b="1"/>
              <a:t>&lt;input&gt;</a:t>
            </a:r>
            <a:r>
              <a:rPr lang="vi-VN"/>
              <a:t>: tạo các điều khiển TextField</a:t>
            </a:r>
            <a:r>
              <a:rPr lang="en-US"/>
              <a:t>s</a:t>
            </a:r>
            <a:r>
              <a:rPr lang="vi-VN"/>
              <a:t>, Button,…</a:t>
            </a:r>
          </a:p>
          <a:p>
            <a:pPr lvl="2"/>
            <a:r>
              <a:rPr lang="vi-VN" b="1"/>
              <a:t>type</a:t>
            </a:r>
            <a:r>
              <a:rPr lang="vi-VN"/>
              <a:t>: xác định loại điều khiển</a:t>
            </a:r>
            <a:endParaRPr lang="en-US"/>
          </a:p>
          <a:p>
            <a:pPr lvl="2"/>
            <a:r>
              <a:rPr lang="en-US"/>
              <a:t>Cú pháp: </a:t>
            </a:r>
            <a:r>
              <a:rPr lang="vi-VN"/>
              <a:t>&lt;input type=“loại điều khiển” name=“tên điều khiền”  value=“giá trị”  id=”định danh”</a:t>
            </a:r>
            <a:r>
              <a:rPr lang="en-US"/>
              <a:t>/</a:t>
            </a:r>
            <a:r>
              <a:rPr lang="vi-VN"/>
              <a:t>&gt;</a:t>
            </a:r>
            <a:endParaRPr lang="en-US"/>
          </a:p>
          <a:p>
            <a:pPr lvl="1"/>
            <a:r>
              <a:rPr lang="en-US"/>
              <a:t>Ví dụ: tạo form đăng nhập có giao diện như sau:</a:t>
            </a:r>
            <a:endParaRPr lang="vi-VN"/>
          </a:p>
          <a:p>
            <a:pPr lvl="2"/>
            <a:endParaRPr lang="vi-VN"/>
          </a:p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038600"/>
            <a:ext cx="5801916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466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Điều khiển cơ bản</a:t>
            </a:r>
            <a:endParaRPr lang="vi-VN"/>
          </a:p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3400" y="1738245"/>
            <a:ext cx="8153400" cy="49244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form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name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="nhap"&gt;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table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</a:t>
            </a:r>
            <a:r>
              <a:rPr lang="vi-VN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vi-VN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Mã đăng nhập</a:t>
            </a:r>
            <a:r>
              <a:rPr lang="vi-VN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vi-VN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vi-VN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input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type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="text"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name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="ma"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=""&gt;&lt;/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Mật khẩu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input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type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="text"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name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="matkhau"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=""&gt;&lt;/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colspan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="2"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align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="center"&gt;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input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type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="submit"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name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="dn"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="Đăng nhập"&gt;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td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tr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table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form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352667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Một số điều khiển khác</a:t>
            </a:r>
          </a:p>
          <a:p>
            <a:pPr lvl="1"/>
            <a:r>
              <a:rPr lang="vi-VN" b="1"/>
              <a:t>&lt;label&gt;</a:t>
            </a:r>
            <a:r>
              <a:rPr lang="vi-VN"/>
              <a:t>: </a:t>
            </a:r>
            <a:r>
              <a:rPr lang="en-US"/>
              <a:t>hiển thị text, thường </a:t>
            </a:r>
            <a:r>
              <a:rPr lang="vi-VN"/>
              <a:t>liên quan đến một điều khiển khác (tag </a:t>
            </a:r>
            <a:r>
              <a:rPr lang="vi-VN" b="1"/>
              <a:t>&lt;input&gt;</a:t>
            </a:r>
            <a:r>
              <a:rPr lang="vi-VN"/>
              <a:t>)</a:t>
            </a:r>
          </a:p>
          <a:p>
            <a:pPr lvl="2"/>
            <a:r>
              <a:rPr lang="vi-VN" b="1"/>
              <a:t>for</a:t>
            </a:r>
            <a:r>
              <a:rPr lang="vi-VN"/>
              <a:t>: liên kết với điều khiển khác</a:t>
            </a:r>
          </a:p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3048000"/>
            <a:ext cx="838200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Nhấn chuột vào "Nam" hoặc "Nữ" để chọn giới tính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br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input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type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="radio"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name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="phai"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id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="nam"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checked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="checked"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/&gt;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label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="nam"&gt;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Nam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label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br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/&gt;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input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type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="radio"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name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="phai"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id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="nu"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/&gt;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da-DK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da-DK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label</a:t>
            </a:r>
            <a:r>
              <a:rPr lang="da-DK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da-DK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="nu"&gt;</a:t>
            </a:r>
            <a:r>
              <a:rPr lang="da-DK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Nữ</a:t>
            </a:r>
            <a:r>
              <a:rPr lang="da-DK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da-DK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label</a:t>
            </a:r>
            <a:r>
              <a:rPr lang="da-DK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da-DK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257800"/>
            <a:ext cx="6626231" cy="111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204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Một số điều khiển khác</a:t>
            </a:r>
          </a:p>
          <a:p>
            <a:pPr lvl="1"/>
            <a:r>
              <a:rPr lang="vi-VN" b="1"/>
              <a:t>&lt;textarea&gt;</a:t>
            </a:r>
            <a:r>
              <a:rPr lang="vi-VN"/>
              <a:t>: giống Text</a:t>
            </a:r>
            <a:r>
              <a:rPr lang="en-US"/>
              <a:t>F</a:t>
            </a:r>
            <a:r>
              <a:rPr lang="vi-VN"/>
              <a:t>ields nhưng cho phép nhập trên nhiều dòng</a:t>
            </a:r>
          </a:p>
          <a:p>
            <a:pPr lvl="1"/>
            <a:r>
              <a:rPr lang="vi-VN" b="1"/>
              <a:t>Cols</a:t>
            </a:r>
            <a:r>
              <a:rPr lang="vi-VN"/>
              <a:t>: xác định số ký tự trên 1 dòng</a:t>
            </a:r>
          </a:p>
          <a:p>
            <a:pPr lvl="1"/>
            <a:r>
              <a:rPr lang="vi-VN" b="1"/>
              <a:t>Rows</a:t>
            </a:r>
            <a:r>
              <a:rPr lang="vi-VN"/>
              <a:t>: xác định số dòng nhìn thấy trên điều khiển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90600" y="3733800"/>
            <a:ext cx="72390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form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name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="nhap"&gt;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Lý lịch: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textarea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cols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="30"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rows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="5"&gt;&lt;/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textarea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form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842" y="4955525"/>
            <a:ext cx="5810250" cy="175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414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Một số điều khiển khác</a:t>
            </a:r>
          </a:p>
          <a:p>
            <a:pPr lvl="1"/>
            <a:r>
              <a:rPr lang="en-US" b="1"/>
              <a:t>&lt;select&gt;</a:t>
            </a:r>
            <a:r>
              <a:rPr lang="en-US"/>
              <a:t>: có dạng ComboBox hoặc ListBox (Drop-down List)</a:t>
            </a:r>
          </a:p>
          <a:p>
            <a:pPr lvl="2"/>
            <a:r>
              <a:rPr lang="en-US"/>
              <a:t>Cú pháp: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048000"/>
            <a:ext cx="7543800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form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name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="nhap"&gt;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select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id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="…"&gt;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 … 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selected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="selected"&gt;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Mục chọn 1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 … 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Mục chọn 2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 … 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Mục chọn 3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…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select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form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Một số điều khiển khác</a:t>
            </a:r>
          </a:p>
          <a:p>
            <a:pPr lvl="1"/>
            <a:r>
              <a:rPr lang="en-US" b="1"/>
              <a:t>&lt;select&gt;</a:t>
            </a:r>
            <a:r>
              <a:rPr lang="en-US"/>
              <a:t>: có dạng ComboBox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17808" y="2209800"/>
            <a:ext cx="75438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select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id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="monhoc"&gt;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="1"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selected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="selected"&gt;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Lập trình Web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="2"&gt;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Lập trình Java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="3"&gt;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Lập trình C++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select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410199"/>
            <a:ext cx="170497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910136"/>
            <a:ext cx="169545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3810000" y="5619748"/>
            <a:ext cx="1066800" cy="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62400" y="526946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02831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Một số điều khiển khác</a:t>
            </a:r>
          </a:p>
          <a:p>
            <a:pPr lvl="1"/>
            <a:r>
              <a:rPr lang="en-US" b="1"/>
              <a:t>&lt;select&gt;</a:t>
            </a:r>
            <a:r>
              <a:rPr lang="en-US"/>
              <a:t>: có dạng ListBox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17808" y="2270879"/>
            <a:ext cx="7543800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Hãy chọn phim mà bạn yêu thích, được phép chọn nhiều phim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p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vi-VN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select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id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="phim"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size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=“3"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multiple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="multiple"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style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width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200px"&gt;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="1"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selected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="selected"&gt;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Anh hùng xạ điêu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fr-FR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fr-F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fr-FR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fr-FR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fr-FR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fr-F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="2"&gt;</a:t>
            </a:r>
            <a:r>
              <a:rPr lang="fr-FR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Thập diện mai phục </a:t>
            </a:r>
            <a:r>
              <a:rPr lang="fr-F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fr-FR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fr-FR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fr-FR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="3"&gt;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Báu vật hoàng cung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option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select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5562600"/>
            <a:ext cx="5762625" cy="1264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067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Một số điều khiển khác</a:t>
            </a:r>
          </a:p>
          <a:p>
            <a:pPr lvl="1"/>
            <a:r>
              <a:rPr lang="en-US" b="1"/>
              <a:t>&lt;select&gt;</a:t>
            </a:r>
            <a:r>
              <a:rPr lang="en-US"/>
              <a:t>: có dạng ListBox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5" y="2505075"/>
            <a:ext cx="6267450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49010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Các sự kiện cơ bản:</a:t>
            </a:r>
          </a:p>
          <a:p>
            <a:pPr lvl="1"/>
            <a:r>
              <a:rPr lang="vi-VN" b="1"/>
              <a:t>onload</a:t>
            </a:r>
            <a:r>
              <a:rPr lang="vi-VN"/>
              <a:t>: xảy ra khi trang HTML được load, áp dụng cho tag </a:t>
            </a:r>
            <a:r>
              <a:rPr lang="vi-VN" b="1"/>
              <a:t>&lt;body&gt;</a:t>
            </a:r>
          </a:p>
          <a:p>
            <a:pPr lvl="1"/>
            <a:r>
              <a:rPr lang="vi-VN" b="1"/>
              <a:t>onclick</a:t>
            </a:r>
            <a:r>
              <a:rPr lang="vi-VN"/>
              <a:t>: xảy ra khi nhấn chuột lên điều khiển, thường áp dụng cho các nút nhấn </a:t>
            </a:r>
          </a:p>
          <a:p>
            <a:pPr lvl="1"/>
            <a:r>
              <a:rPr lang="vi-VN" b="1"/>
              <a:t>onchange</a:t>
            </a:r>
            <a:r>
              <a:rPr lang="vi-VN"/>
              <a:t>: xảy ra khi thay đổi giá trị của điều khiển, thường áp dụng cho điều khiển Drop-down List</a:t>
            </a:r>
          </a:p>
          <a:p>
            <a:r>
              <a:rPr lang="vi-VN">
                <a:hlinkClick r:id="rId2"/>
              </a:rPr>
              <a:t>Website danh sách các sự kiện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560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Xử lý hiển thị kết quả lên trang web</a:t>
            </a:r>
            <a:endParaRPr lang="en-US"/>
          </a:p>
          <a:p>
            <a:pPr lvl="1"/>
            <a:r>
              <a:rPr lang="vi-VN"/>
              <a:t>Thường dùng tag </a:t>
            </a:r>
            <a:r>
              <a:rPr lang="vi-VN" b="1"/>
              <a:t>&lt;div&gt; </a:t>
            </a:r>
            <a:r>
              <a:rPr lang="vi-VN"/>
              <a:t>hoặc </a:t>
            </a:r>
            <a:r>
              <a:rPr lang="vi-VN" b="1"/>
              <a:t>&lt;label&gt;</a:t>
            </a:r>
            <a:r>
              <a:rPr lang="vi-VN"/>
              <a:t>, có 2 thuộc tính cơ bản dùng để hiển thị kết quả</a:t>
            </a:r>
            <a:endParaRPr lang="en-US"/>
          </a:p>
          <a:p>
            <a:pPr lvl="1"/>
            <a:r>
              <a:rPr lang="en-US"/>
              <a:t>Dùng innerText</a:t>
            </a:r>
          </a:p>
          <a:p>
            <a:pPr lvl="1"/>
            <a:endParaRPr lang="en-US"/>
          </a:p>
          <a:p>
            <a:pPr lvl="1"/>
            <a:endParaRPr lang="vi-VN"/>
          </a:p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" y="3200400"/>
            <a:ext cx="77724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label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id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="cauchao"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style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#FF0000"&gt;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label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input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type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="button"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name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="kt"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="Kết thúc"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onclick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cauchao.innerText='Chúc mừng các bạn đã kết thúc bài học về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u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form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u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'" /&gt;</a:t>
            </a: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865943" y="5105400"/>
            <a:ext cx="7570787" cy="1323975"/>
            <a:chOff x="865943" y="5105400"/>
            <a:chExt cx="7570787" cy="1323975"/>
          </a:xfrm>
        </p:grpSpPr>
        <p:grpSp>
          <p:nvGrpSpPr>
            <p:cNvPr id="10" name="Group 9"/>
            <p:cNvGrpSpPr/>
            <p:nvPr/>
          </p:nvGrpSpPr>
          <p:grpSpPr>
            <a:xfrm>
              <a:off x="3810000" y="5105400"/>
              <a:ext cx="1149274" cy="929640"/>
              <a:chOff x="3810000" y="5295900"/>
              <a:chExt cx="1149274" cy="929640"/>
            </a:xfrm>
          </p:grpSpPr>
          <p:pic>
            <p:nvPicPr>
              <p:cNvPr id="29699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0000" y="5295900"/>
                <a:ext cx="1123950" cy="352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8" name="Straight Arrow Connector 7"/>
              <p:cNvCxnSpPr/>
              <p:nvPr/>
            </p:nvCxnSpPr>
            <p:spPr>
              <a:xfrm>
                <a:off x="4371975" y="5676900"/>
                <a:ext cx="0" cy="5486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4343400" y="5764768"/>
                <a:ext cx="615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Click</a:t>
                </a:r>
              </a:p>
            </p:txBody>
          </p:sp>
        </p:grpSp>
        <p:pic>
          <p:nvPicPr>
            <p:cNvPr id="29700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943" y="6096000"/>
              <a:ext cx="7570787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5523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 và các điều khiển trên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Xử lý hiển thị kết quả lên trang web</a:t>
            </a:r>
            <a:endParaRPr lang="en-US"/>
          </a:p>
          <a:p>
            <a:pPr lvl="1"/>
            <a:r>
              <a:rPr lang="vi-VN"/>
              <a:t>Thường dùng tag </a:t>
            </a:r>
            <a:r>
              <a:rPr lang="vi-VN" b="1"/>
              <a:t>&lt;div&gt; </a:t>
            </a:r>
            <a:r>
              <a:rPr lang="vi-VN"/>
              <a:t>hoặc </a:t>
            </a:r>
            <a:r>
              <a:rPr lang="vi-VN" b="1"/>
              <a:t>&lt;label&gt;</a:t>
            </a:r>
            <a:r>
              <a:rPr lang="vi-VN"/>
              <a:t>, có 2 thuộc tính cơ bản dùng để hiển thị kết quả</a:t>
            </a:r>
            <a:endParaRPr lang="en-US"/>
          </a:p>
          <a:p>
            <a:pPr lvl="1"/>
            <a:r>
              <a:rPr lang="en-US"/>
              <a:t>Dùng innerHTML</a:t>
            </a:r>
          </a:p>
          <a:p>
            <a:pPr lvl="1"/>
            <a:endParaRPr lang="en-US"/>
          </a:p>
          <a:p>
            <a:pPr lvl="1"/>
            <a:endParaRPr lang="vi-VN"/>
          </a:p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C63D-7C46-412B-AAA7-33974159EE20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" y="3200400"/>
            <a:ext cx="77724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label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id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="cauchao"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style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color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#FF0000"&gt;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label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input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type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="button"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name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="kt"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value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="Kết thúc"</a:t>
            </a: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</a:t>
            </a:r>
            <a:r>
              <a:rPr lang="vi-VN">
                <a:solidFill>
                  <a:srgbClr val="FF0000"/>
                </a:solidFill>
                <a:highlight>
                  <a:srgbClr val="FFFFFF"/>
                </a:highlight>
                <a:latin typeface="Consolas"/>
              </a:rPr>
              <a:t>onclick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cauchao.inner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HTML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='Chúc mừng các bạn đã kết thúc bài học về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u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form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u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&gt;&lt;/</a:t>
            </a:r>
            <a:r>
              <a:rPr lang="vi-VN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</a:t>
            </a:r>
            <a:r>
              <a:rPr lang="vi-VN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r>
              <a:rPr lang="vi-VN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'" /&gt;</a:t>
            </a:r>
          </a:p>
          <a:p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&lt;/</a:t>
            </a:r>
            <a:r>
              <a:rPr lang="en-US">
                <a:solidFill>
                  <a:srgbClr val="800000"/>
                </a:solidFill>
                <a:highlight>
                  <a:srgbClr val="FFFFFF"/>
                </a:highlight>
                <a:latin typeface="Consolas"/>
              </a:rPr>
              <a:t>body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&gt;</a:t>
            </a:r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404937" y="5105400"/>
            <a:ext cx="5934075" cy="1295400"/>
            <a:chOff x="1404937" y="5105400"/>
            <a:chExt cx="5934075" cy="1295400"/>
          </a:xfrm>
        </p:grpSpPr>
        <p:grpSp>
          <p:nvGrpSpPr>
            <p:cNvPr id="13" name="Group 12"/>
            <p:cNvGrpSpPr/>
            <p:nvPr/>
          </p:nvGrpSpPr>
          <p:grpSpPr>
            <a:xfrm>
              <a:off x="3810000" y="5105400"/>
              <a:ext cx="1149274" cy="929640"/>
              <a:chOff x="3810000" y="5295900"/>
              <a:chExt cx="1149274" cy="929640"/>
            </a:xfrm>
          </p:grpSpPr>
          <p:pic>
            <p:nvPicPr>
              <p:cNvPr id="15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0000" y="5295900"/>
                <a:ext cx="1123950" cy="352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6" name="Straight Arrow Connector 15"/>
              <p:cNvCxnSpPr/>
              <p:nvPr/>
            </p:nvCxnSpPr>
            <p:spPr>
              <a:xfrm>
                <a:off x="4371975" y="5676900"/>
                <a:ext cx="0" cy="5486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4343400" y="5764768"/>
                <a:ext cx="615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Click</a:t>
                </a:r>
              </a:p>
            </p:txBody>
          </p:sp>
        </p:grpSp>
        <p:pic>
          <p:nvPicPr>
            <p:cNvPr id="307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4937" y="6048375"/>
              <a:ext cx="5934075" cy="352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2103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CHƯƠNG 2&amp;quot;&quot;/&gt;&lt;property id=&quot;20307&quot; value=&quot;256&quot;/&gt;&lt;/object&gt;&lt;object type=&quot;3&quot; unique_id=&quot;10011&quot;&gt;&lt;property id=&quot;20148&quot; value=&quot;5&quot;/&gt;&lt;property id=&quot;20300&quot; value=&quot;Slide 2 - &amp;quot;Nội dung giảng dạy&amp;quot;&quot;/&gt;&lt;property id=&quot;20307&quot; value=&quot;257&quot;/&gt;&lt;/object&gt;&lt;object type=&quot;3&quot; unique_id=&quot;10518&quot;&gt;&lt;property id=&quot;20148&quot; value=&quot;5&quot;/&gt;&lt;property id=&quot;20300&quot; value=&quot;Slide 51 - &amp;quot;Câu hỏi thảo luận&amp;quot;&quot;/&gt;&lt;property id=&quot;20307&quot; value=&quot;288&quot;/&gt;&lt;/object&gt;&lt;object type=&quot;3&quot; unique_id=&quot;10652&quot;&gt;&lt;property id=&quot;20148&quot; value=&quot;5&quot;/&gt;&lt;property id=&quot;20300&quot; value=&quot;Slide 3 - &amp;quot;Giới thiệu ngôn ngữ HTML&amp;quot;&quot;/&gt;&lt;property id=&quot;20307&quot; value=&quot;289&quot;/&gt;&lt;/object&gt;&lt;object type=&quot;3&quot; unique_id=&quot;10653&quot;&gt;&lt;property id=&quot;20148&quot; value=&quot;5&quot;/&gt;&lt;property id=&quot;20300&quot; value=&quot;Slide 4 - &amp;quot;Các thành phần trong trang HTML&amp;quot;&quot;/&gt;&lt;property id=&quot;20307&quot; value=&quot;290&quot;/&gt;&lt;/object&gt;&lt;object type=&quot;3&quot; unique_id=&quot;10654&quot;&gt;&lt;property id=&quot;20148&quot; value=&quot;5&quot;/&gt;&lt;property id=&quot;20300&quot; value=&quot;Slide 5 - &amp;quot;Các thành phần trong trang HTML&amp;quot;&quot;/&gt;&lt;property id=&quot;20307&quot; value=&quot;291&quot;/&gt;&lt;/object&gt;&lt;object type=&quot;3&quot; unique_id=&quot;10655&quot;&gt;&lt;property id=&quot;20148&quot; value=&quot;5&quot;/&gt;&lt;property id=&quot;20300&quot; value=&quot;Slide 7 - &amp;quot;Các tag cơ bản&amp;quot;&quot;/&gt;&lt;property id=&quot;20307&quot; value=&quot;292&quot;/&gt;&lt;/object&gt;&lt;object type=&quot;3&quot; unique_id=&quot;10656&quot;&gt;&lt;property id=&quot;20148&quot; value=&quot;5&quot;/&gt;&lt;property id=&quot;20300&quot; value=&quot;Slide 22 - &amp;quot;Hiển thị các ký tự đặc biệt&amp;quot;&quot;/&gt;&lt;property id=&quot;20307&quot; value=&quot;293&quot;/&gt;&lt;/object&gt;&lt;object type=&quot;3&quot; unique_id=&quot;10657&quot;&gt;&lt;property id=&quot;20148&quot; value=&quot;5&quot;/&gt;&lt;property id=&quot;20300&quot; value=&quot;Slide 23 - &amp;quot;Hình ảnh&amp;quot;&quot;/&gt;&lt;property id=&quot;20307&quot; value=&quot;294&quot;/&gt;&lt;/object&gt;&lt;object type=&quot;3&quot; unique_id=&quot;10658&quot;&gt;&lt;property id=&quot;20148&quot; value=&quot;5&quot;/&gt;&lt;property id=&quot;20300&quot; value=&quot;Slide 25 - &amp;quot;Danh sách&amp;quot;&quot;/&gt;&lt;property id=&quot;20307&quot; value=&quot;295&quot;/&gt;&lt;/object&gt;&lt;object type=&quot;3&quot; unique_id=&quot;10900&quot;&gt;&lt;property id=&quot;20148&quot; value=&quot;5&quot;/&gt;&lt;property id=&quot;20300&quot; value=&quot;Slide 6 - &amp;quot;Các thành phần trong trang HTML&amp;quot;&quot;/&gt;&lt;property id=&quot;20307&quot; value=&quot;296&quot;/&gt;&lt;/object&gt;&lt;object type=&quot;3&quot; unique_id=&quot;10901&quot;&gt;&lt;property id=&quot;20148&quot; value=&quot;5&quot;/&gt;&lt;property id=&quot;20300&quot; value=&quot;Slide 8 - &amp;quot;Các tag cơ bản&amp;quot;&quot;/&gt;&lt;property id=&quot;20307&quot; value=&quot;298&quot;/&gt;&lt;/object&gt;&lt;object type=&quot;3&quot; unique_id=&quot;10902&quot;&gt;&lt;property id=&quot;20148&quot; value=&quot;5&quot;/&gt;&lt;property id=&quot;20300&quot; value=&quot;Slide 9 - &amp;quot;Các tag cơ bản&amp;quot;&quot;/&gt;&lt;property id=&quot;20307&quot; value=&quot;300&quot;/&gt;&lt;/object&gt;&lt;object type=&quot;3&quot; unique_id=&quot;10903&quot;&gt;&lt;property id=&quot;20148&quot; value=&quot;5&quot;/&gt;&lt;property id=&quot;20300&quot; value=&quot;Slide 10 - &amp;quot;Các tag cơ bản&amp;quot;&quot;/&gt;&lt;property id=&quot;20307&quot; value=&quot;299&quot;/&gt;&lt;/object&gt;&lt;object type=&quot;3&quot; unique_id=&quot;10904&quot;&gt;&lt;property id=&quot;20148&quot; value=&quot;5&quot;/&gt;&lt;property id=&quot;20300&quot; value=&quot;Slide 11 - &amp;quot;Các tag cơ bản&amp;quot;&quot;/&gt;&lt;property id=&quot;20307&quot; value=&quot;303&quot;/&gt;&lt;/object&gt;&lt;object type=&quot;3&quot; unique_id=&quot;10905&quot;&gt;&lt;property id=&quot;20148&quot; value=&quot;5&quot;/&gt;&lt;property id=&quot;20300&quot; value=&quot;Slide 12 - &amp;quot;Các tag cơ bản&amp;quot;&quot;/&gt;&lt;property id=&quot;20307&quot; value=&quot;302&quot;/&gt;&lt;/object&gt;&lt;object type=&quot;3&quot; unique_id=&quot;10906&quot;&gt;&lt;property id=&quot;20148&quot; value=&quot;5&quot;/&gt;&lt;property id=&quot;20300&quot; value=&quot;Slide 13 - &amp;quot;Các tag cơ bản&amp;quot;&quot;/&gt;&lt;property id=&quot;20307&quot; value=&quot;301&quot;/&gt;&lt;/object&gt;&lt;object type=&quot;3&quot; unique_id=&quot;10907&quot;&gt;&lt;property id=&quot;20148&quot; value=&quot;5&quot;/&gt;&lt;property id=&quot;20300&quot; value=&quot;Slide 14 - &amp;quot;Các tag cơ bản&amp;quot;&quot;/&gt;&lt;property id=&quot;20307&quot; value=&quot;304&quot;/&gt;&lt;/object&gt;&lt;object type=&quot;3&quot; unique_id=&quot;10908&quot;&gt;&lt;property id=&quot;20148&quot; value=&quot;5&quot;/&gt;&lt;property id=&quot;20300&quot; value=&quot;Slide 15 - &amp;quot;Định dạng trang HTML&amp;quot;&quot;/&gt;&lt;property id=&quot;20307&quot; value=&quot;305&quot;/&gt;&lt;/object&gt;&lt;object type=&quot;3&quot; unique_id=&quot;10909&quot;&gt;&lt;property id=&quot;20148&quot; value=&quot;5&quot;/&gt;&lt;property id=&quot;20300&quot; value=&quot;Slide 19 - &amp;quot;Định dạng văn bản&amp;quot;&quot;/&gt;&lt;property id=&quot;20307&quot; value=&quot;297&quot;/&gt;&lt;/object&gt;&lt;object type=&quot;3&quot; unique_id=&quot;11086&quot;&gt;&lt;property id=&quot;20148&quot; value=&quot;5&quot;/&gt;&lt;property id=&quot;20300&quot; value=&quot;Slide 16 - &amp;quot;Định dạng trang HTML&amp;quot;&quot;/&gt;&lt;property id=&quot;20307&quot; value=&quot;306&quot;/&gt;&lt;/object&gt;&lt;object type=&quot;3&quot; unique_id=&quot;11087&quot;&gt;&lt;property id=&quot;20148&quot; value=&quot;5&quot;/&gt;&lt;property id=&quot;20300&quot; value=&quot;Slide 17 - &amp;quot;Định dạng trang HTML&amp;quot;&quot;/&gt;&lt;property id=&quot;20307&quot; value=&quot;307&quot;/&gt;&lt;/object&gt;&lt;object type=&quot;3&quot; unique_id=&quot;11088&quot;&gt;&lt;property id=&quot;20148&quot; value=&quot;5&quot;/&gt;&lt;property id=&quot;20300&quot; value=&quot;Slide 18 - &amp;quot;Định dạng trang HTML&amp;quot;&quot;/&gt;&lt;property id=&quot;20307&quot; value=&quot;308&quot;/&gt;&lt;/object&gt;&lt;object type=&quot;3&quot; unique_id=&quot;11089&quot;&gt;&lt;property id=&quot;20148&quot; value=&quot;5&quot;/&gt;&lt;property id=&quot;20300&quot; value=&quot;Slide 20 - &amp;quot;Định dạng văn bản&amp;quot;&quot;/&gt;&lt;property id=&quot;20307&quot; value=&quot;309&quot;/&gt;&lt;/object&gt;&lt;object type=&quot;3&quot; unique_id=&quot;11090&quot;&gt;&lt;property id=&quot;20148&quot; value=&quot;5&quot;/&gt;&lt;property id=&quot;20300&quot; value=&quot;Slide 21 - &amp;quot;Định dạng văn bản&amp;quot;&quot;/&gt;&lt;property id=&quot;20307&quot; value=&quot;310&quot;/&gt;&lt;/object&gt;&lt;object type=&quot;3&quot; unique_id=&quot;11091&quot;&gt;&lt;property id=&quot;20148&quot; value=&quot;5&quot;/&gt;&lt;property id=&quot;20300&quot; value=&quot;Slide 24 - &amp;quot;Hình ảnh&amp;quot;&quot;/&gt;&lt;property id=&quot;20307&quot; value=&quot;311&quot;/&gt;&lt;/object&gt;&lt;object type=&quot;3&quot; unique_id=&quot;11232&quot;&gt;&lt;property id=&quot;20148&quot; value=&quot;5&quot;/&gt;&lt;property id=&quot;20300&quot; value=&quot;Slide 26 - &amp;quot;Danh sách&amp;quot;&quot;/&gt;&lt;property id=&quot;20307&quot; value=&quot;312&quot;/&gt;&lt;/object&gt;&lt;object type=&quot;3&quot; unique_id=&quot;11233&quot;&gt;&lt;property id=&quot;20148&quot; value=&quot;5&quot;/&gt;&lt;property id=&quot;20300&quot; value=&quot;Slide 27 - &amp;quot;Danh sách&amp;quot;&quot;/&gt;&lt;property id=&quot;20307&quot; value=&quot;313&quot;/&gt;&lt;/object&gt;&lt;object type=&quot;3&quot; unique_id=&quot;11354&quot;&gt;&lt;property id=&quot;20148&quot; value=&quot;5&quot;/&gt;&lt;property id=&quot;20300&quot; value=&quot;Slide 28 - &amp;quot;Liên kết&amp;quot;&quot;/&gt;&lt;property id=&quot;20307&quot; value=&quot;314&quot;/&gt;&lt;/object&gt;&lt;object type=&quot;3&quot; unique_id=&quot;11355&quot;&gt;&lt;property id=&quot;20148&quot; value=&quot;5&quot;/&gt;&lt;property id=&quot;20300&quot; value=&quot;Slide 29 - &amp;quot;Liên kết&amp;quot;&quot;/&gt;&lt;property id=&quot;20307&quot; value=&quot;315&quot;/&gt;&lt;/object&gt;&lt;object type=&quot;3&quot; unique_id=&quot;11548&quot;&gt;&lt;property id=&quot;20148&quot; value=&quot;5&quot;/&gt;&lt;property id=&quot;20300&quot; value=&quot;Slide 30 - &amp;quot;Liên kết&amp;quot;&quot;/&gt;&lt;property id=&quot;20307&quot; value=&quot;316&quot;/&gt;&lt;/object&gt;&lt;object type=&quot;3&quot; unique_id=&quot;11549&quot;&gt;&lt;property id=&quot;20148&quot; value=&quot;5&quot;/&gt;&lt;property id=&quot;20300&quot; value=&quot;Slide 31 - &amp;quot;Bảng biểu&amp;quot;&quot;/&gt;&lt;property id=&quot;20307&quot; value=&quot;317&quot;/&gt;&lt;/object&gt;&lt;object type=&quot;3&quot; unique_id=&quot;11550&quot;&gt;&lt;property id=&quot;20148&quot; value=&quot;5&quot;/&gt;&lt;property id=&quot;20300&quot; value=&quot;Slide 32 - &amp;quot;Bảng biểu&amp;quot;&quot;/&gt;&lt;property id=&quot;20307&quot; value=&quot;319&quot;/&gt;&lt;/object&gt;&lt;object type=&quot;3&quot; unique_id=&quot;11551&quot;&gt;&lt;property id=&quot;20148&quot; value=&quot;5&quot;/&gt;&lt;property id=&quot;20300&quot; value=&quot;Slide 38 - &amp;quot;Form và các điều khiển trên form&amp;quot;&quot;/&gt;&lt;property id=&quot;20307&quot; value=&quot;318&quot;/&gt;&lt;/object&gt;&lt;object type=&quot;3&quot; unique_id=&quot;12071&quot;&gt;&lt;property id=&quot;20148&quot; value=&quot;5&quot;/&gt;&lt;property id=&quot;20300&quot; value=&quot;Slide 33 - &amp;quot;Bảng biểu&amp;quot;&quot;/&gt;&lt;property id=&quot;20307&quot; value=&quot;320&quot;/&gt;&lt;/object&gt;&lt;object type=&quot;3&quot; unique_id=&quot;12072&quot;&gt;&lt;property id=&quot;20148&quot; value=&quot;5&quot;/&gt;&lt;property id=&quot;20300&quot; value=&quot;Slide 34 - &amp;quot;Bảng biểu&amp;quot;&quot;/&gt;&lt;property id=&quot;20307&quot; value=&quot;321&quot;/&gt;&lt;/object&gt;&lt;object type=&quot;3&quot; unique_id=&quot;12073&quot;&gt;&lt;property id=&quot;20148&quot; value=&quot;5&quot;/&gt;&lt;property id=&quot;20300&quot; value=&quot;Slide 35 - &amp;quot;Bảng biểu&amp;quot;&quot;/&gt;&lt;property id=&quot;20307&quot; value=&quot;322&quot;/&gt;&lt;/object&gt;&lt;object type=&quot;3&quot; unique_id=&quot;12074&quot;&gt;&lt;property id=&quot;20148&quot; value=&quot;5&quot;/&gt;&lt;property id=&quot;20300&quot; value=&quot;Slide 36 - &amp;quot;Bảng biểu&amp;quot;&quot;/&gt;&lt;property id=&quot;20307&quot; value=&quot;323&quot;/&gt;&lt;/object&gt;&lt;object type=&quot;3&quot; unique_id=&quot;12075&quot;&gt;&lt;property id=&quot;20148&quot; value=&quot;5&quot;/&gt;&lt;property id=&quot;20300&quot; value=&quot;Slide 37 - &amp;quot;Bảng biểu&amp;quot;&quot;/&gt;&lt;property id=&quot;20307&quot; value=&quot;324&quot;/&gt;&lt;/object&gt;&lt;object type=&quot;3&quot; unique_id=&quot;12076&quot;&gt;&lt;property id=&quot;20148&quot; value=&quot;5&quot;/&gt;&lt;property id=&quot;20300&quot; value=&quot;Slide 40 - &amp;quot;Form và các điều khiển trên form&amp;quot;&quot;/&gt;&lt;property id=&quot;20307&quot; value=&quot;325&quot;/&gt;&lt;/object&gt;&lt;object type=&quot;3&quot; unique_id=&quot;12203&quot;&gt;&lt;property id=&quot;20148&quot; value=&quot;5&quot;/&gt;&lt;property id=&quot;20300&quot; value=&quot;Slide 39 - &amp;quot;Form và các điều khiển trên form&amp;quot;&quot;/&gt;&lt;property id=&quot;20307&quot; value=&quot;326&quot;/&gt;&lt;/object&gt;&lt;object type=&quot;3&quot; unique_id=&quot;12333&quot;&gt;&lt;property id=&quot;20148&quot; value=&quot;5&quot;/&gt;&lt;property id=&quot;20300&quot; value=&quot;Slide 41 - &amp;quot;Form và các điều khiển trên form&amp;quot;&quot;/&gt;&lt;property id=&quot;20307&quot; value=&quot;327&quot;/&gt;&lt;/object&gt;&lt;object type=&quot;3&quot; unique_id=&quot;12554&quot;&gt;&lt;property id=&quot;20148&quot; value=&quot;5&quot;/&gt;&lt;property id=&quot;20300&quot; value=&quot;Slide 42 - &amp;quot;Form và các điều khiển trên form&amp;quot;&quot;/&gt;&lt;property id=&quot;20307&quot; value=&quot;328&quot;/&gt;&lt;/object&gt;&lt;object type=&quot;3&quot; unique_id=&quot;12555&quot;&gt;&lt;property id=&quot;20148&quot; value=&quot;5&quot;/&gt;&lt;property id=&quot;20300&quot; value=&quot;Slide 43 - &amp;quot;Form và các điều khiển trên form&amp;quot;&quot;/&gt;&lt;property id=&quot;20307&quot; value=&quot;329&quot;/&gt;&lt;/object&gt;&lt;object type=&quot;3&quot; unique_id=&quot;12556&quot;&gt;&lt;property id=&quot;20148&quot; value=&quot;5&quot;/&gt;&lt;property id=&quot;20300&quot; value=&quot;Slide 44 - &amp;quot;Form và các điều khiển trên form&amp;quot;&quot;/&gt;&lt;property id=&quot;20307&quot; value=&quot;330&quot;/&gt;&lt;/object&gt;&lt;object type=&quot;3&quot; unique_id=&quot;12792&quot;&gt;&lt;property id=&quot;20148&quot; value=&quot;5&quot;/&gt;&lt;property id=&quot;20300&quot; value=&quot;Slide 45 - &amp;quot;Form và các điều khiển trên form&amp;quot;&quot;/&gt;&lt;property id=&quot;20307&quot; value=&quot;331&quot;/&gt;&lt;/object&gt;&lt;object type=&quot;3&quot; unique_id=&quot;12793&quot;&gt;&lt;property id=&quot;20148&quot; value=&quot;5&quot;/&gt;&lt;property id=&quot;20300&quot; value=&quot;Slide 46 - &amp;quot;Form và các điều khiển trên form&amp;quot;&quot;/&gt;&lt;property id=&quot;20307&quot; value=&quot;332&quot;/&gt;&lt;/object&gt;&lt;object type=&quot;3&quot; unique_id=&quot;12794&quot;&gt;&lt;property id=&quot;20148&quot; value=&quot;5&quot;/&gt;&lt;property id=&quot;20300&quot; value=&quot;Slide 47 - &amp;quot;Form và các điều khiển trên form&amp;quot;&quot;/&gt;&lt;property id=&quot;20307&quot; value=&quot;333&quot;/&gt;&lt;/object&gt;&lt;object type=&quot;3&quot; unique_id=&quot;13145&quot;&gt;&lt;property id=&quot;20148&quot; value=&quot;5&quot;/&gt;&lt;property id=&quot;20300&quot; value=&quot;Slide 48 - &amp;quot;Form và các điều khiển trên form&amp;quot;&quot;/&gt;&lt;property id=&quot;20307&quot; value=&quot;334&quot;/&gt;&lt;/object&gt;&lt;object type=&quot;3&quot; unique_id=&quot;13146&quot;&gt;&lt;property id=&quot;20148&quot; value=&quot;5&quot;/&gt;&lt;property id=&quot;20300&quot; value=&quot;Slide 49 - &amp;quot;Form và các điều khiển trên form&amp;quot;&quot;/&gt;&lt;property id=&quot;20307&quot; value=&quot;335&quot;/&gt;&lt;/object&gt;&lt;object type=&quot;3&quot; unique_id=&quot;13147&quot;&gt;&lt;property id=&quot;20148&quot; value=&quot;5&quot;/&gt;&lt;property id=&quot;20300&quot; value=&quot;Slide 50 - &amp;quot;Form và các điều khiển trên form&amp;quot;&quot;/&gt;&lt;property id=&quot;20307&quot; value=&quot;33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2997</TotalTime>
  <Words>4134</Words>
  <Application>Microsoft Office PowerPoint</Application>
  <PresentationFormat>On-screen Show (4:3)</PresentationFormat>
  <Paragraphs>570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Consolas</vt:lpstr>
      <vt:lpstr>Tahoma</vt:lpstr>
      <vt:lpstr>Office Theme</vt:lpstr>
      <vt:lpstr>CHƯƠNG 2</vt:lpstr>
      <vt:lpstr>Giới thiệu ngôn ngữ HTML</vt:lpstr>
      <vt:lpstr>Nội dung giảng dạy</vt:lpstr>
      <vt:lpstr>Giới thiệu ngôn ngữ HTML</vt:lpstr>
      <vt:lpstr>Các thành phần trong trang HTML</vt:lpstr>
      <vt:lpstr>Các thành phần trong trang HTML</vt:lpstr>
      <vt:lpstr>Các thành phần trong trang HTML</vt:lpstr>
      <vt:lpstr>Các tag cơ bản</vt:lpstr>
      <vt:lpstr>Các tag cơ bản</vt:lpstr>
      <vt:lpstr>Các tag cơ bản</vt:lpstr>
      <vt:lpstr>Các tag cơ bản</vt:lpstr>
      <vt:lpstr>Các tag cơ bản</vt:lpstr>
      <vt:lpstr>Các tag cơ bản</vt:lpstr>
      <vt:lpstr>Các tag cơ bản</vt:lpstr>
      <vt:lpstr>Các tag cơ bản</vt:lpstr>
      <vt:lpstr>Định dạng trang HTML</vt:lpstr>
      <vt:lpstr>Định dạng trang HTML</vt:lpstr>
      <vt:lpstr>Định dạng trang HTML</vt:lpstr>
      <vt:lpstr>Định dạng trang HTML</vt:lpstr>
      <vt:lpstr>Định dạng văn bản</vt:lpstr>
      <vt:lpstr>Định dạng văn bản</vt:lpstr>
      <vt:lpstr>Định dạng văn bản</vt:lpstr>
      <vt:lpstr>Hiển thị các ký tự đặc biệt</vt:lpstr>
      <vt:lpstr>Hình ảnh</vt:lpstr>
      <vt:lpstr>Hình ảnh</vt:lpstr>
      <vt:lpstr>Danh sách</vt:lpstr>
      <vt:lpstr>Danh sách</vt:lpstr>
      <vt:lpstr>Danh sách</vt:lpstr>
      <vt:lpstr>Chèn Video</vt:lpstr>
      <vt:lpstr>Liên kết</vt:lpstr>
      <vt:lpstr>Liên kết</vt:lpstr>
      <vt:lpstr>Liên kết</vt:lpstr>
      <vt:lpstr>Bảng biểu</vt:lpstr>
      <vt:lpstr>Bảng biểu</vt:lpstr>
      <vt:lpstr>Bảng biểu</vt:lpstr>
      <vt:lpstr>Bảng biểu</vt:lpstr>
      <vt:lpstr>Bảng biểu</vt:lpstr>
      <vt:lpstr>Bảng biểu</vt:lpstr>
      <vt:lpstr>Bảng biểu</vt:lpstr>
      <vt:lpstr>Form và các điều khiển trên form</vt:lpstr>
      <vt:lpstr>Form và các điều khiển trên form</vt:lpstr>
      <vt:lpstr>Form và các điều khiển trên form</vt:lpstr>
      <vt:lpstr>Form và các điều khiển trên form</vt:lpstr>
      <vt:lpstr>Form và các điều khiển trên form</vt:lpstr>
      <vt:lpstr>Form và các điều khiển trên form</vt:lpstr>
      <vt:lpstr>Form và các điều khiển trên form</vt:lpstr>
      <vt:lpstr>Form và các điều khiển trên form</vt:lpstr>
      <vt:lpstr>Form và các điều khiển trên form</vt:lpstr>
      <vt:lpstr>Form và các điều khiển trên form</vt:lpstr>
      <vt:lpstr>Form và các điều khiển trên form</vt:lpstr>
      <vt:lpstr>Form và các điều khiển trên form</vt:lpstr>
      <vt:lpstr>Form và các điều khiển trên form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LETHANH</dc:creator>
  <cp:lastModifiedBy>MacBook</cp:lastModifiedBy>
  <cp:revision>95</cp:revision>
  <dcterms:created xsi:type="dcterms:W3CDTF">2018-11-16T07:51:03Z</dcterms:created>
  <dcterms:modified xsi:type="dcterms:W3CDTF">2026-08-26T21:40:04Z</dcterms:modified>
</cp:coreProperties>
</file>