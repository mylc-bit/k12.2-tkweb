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72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8" r:id="rId13"/>
    <p:sldId id="283" r:id="rId14"/>
    <p:sldId id="273" r:id="rId15"/>
    <p:sldId id="282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70" r:id="rId25"/>
    <p:sldId id="271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201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4074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5715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4662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ogle.com/url?sa=E&amp;q=https%3A%2F%2Fgithub.com%2F" TargetMode="Externa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2927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B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6D0000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474720"/>
            <a:ext cx="3291840" cy="3291840"/>
          </a:xfrm>
          <a:prstGeom prst="ellipse">
            <a:avLst/>
          </a:prstGeom>
          <a:solidFill>
            <a:srgbClr val="6D000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CHƯƠNG 1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Tổng quan Web, Môi trường &amp; Git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4023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Client–Server · HTTP/HTTPS · VS Code · Git &amp; GitHub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100" dirty="0">
                <a:solidFill>
                  <a:srgbClr val="C8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1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Mục tiêu buổi học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1EEEA"/>
            </a:solidFill>
            <a:prstDash val="solid"/>
          </a:ln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76272"/>
            <a:ext cx="548640" cy="5486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762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91640" y="2084832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1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Hiểu web hoạt động thế nào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691640" y="2523744"/>
            <a:ext cx="9509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6B5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Client–Server và HTTP/HTTPS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40080" y="3090672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1EEEA"/>
            </a:solidFill>
            <a:prstDash val="solid"/>
          </a:ln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346704"/>
            <a:ext cx="548640" cy="5486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34670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691640" y="3255264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1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Cấu hình môi trường VS Code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691640" y="3694176"/>
            <a:ext cx="9509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6B5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và dùng các extension cần thiết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640080" y="4261104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1EEEA"/>
            </a:solidFill>
            <a:prstDash val="solid"/>
          </a:ln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517136"/>
            <a:ext cx="548640" cy="5486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5171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691640" y="4425696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1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Sử dụng Git cơ bản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691640" y="4864608"/>
            <a:ext cx="9509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6B5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lệnh cốt lõi để lưu và đẩy code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640080" y="5431536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1EEEA"/>
            </a:solidFill>
            <a:prstDash val="solid"/>
          </a:ln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5687568"/>
            <a:ext cx="548640" cy="5486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6875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691640" y="5596128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1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Tạo kho GitHub chung nhóm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691640" y="6035040"/>
            <a:ext cx="9509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6B5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Đẩy mã nguồn lên GitHub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100" dirty="0">
                <a:solidFill>
                  <a:srgbClr val="C8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 CÁCH WEB VẬN HÀNH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Kiến trúc Client – Server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F1EEEA"/>
            </a:solidFill>
            <a:prstDash val="solid"/>
          </a:ln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0" y="2331720"/>
            <a:ext cx="914400" cy="9144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0" y="2331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A1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397764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6B5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Trình duyệt: GỬI yêu cầu và HIỂN THỊ kết quả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537960" y="201168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F1EEEA"/>
            </a:solidFill>
            <a:prstDash val="solid"/>
          </a:ln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41080" y="2331720"/>
            <a:ext cx="914400" cy="914400"/>
          </a:xfrm>
          <a:prstGeom prst="ellipse">
            <a:avLst/>
          </a:prstGeom>
          <a:solidFill>
            <a:srgbClr val="2A1512"/>
          </a:solidFill>
          <a:ln/>
        </p:spPr>
      </p:sp>
      <p:sp>
        <p:nvSpPr>
          <p:cNvPr id="11" name="Text 9"/>
          <p:cNvSpPr/>
          <p:nvPr/>
        </p:nvSpPr>
        <p:spPr>
          <a:xfrm>
            <a:off x="8641080" y="2331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720840" y="34290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A1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812280" y="397764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6B5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Máy chủ ở xa: NHẬN, XỬ LÝ và gửi PHẢN HỒI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669280" y="265176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r>
              <a:rPr lang="en-US" sz="26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669280" y="402336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8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</a:t>
            </a:r>
            <a:r>
              <a:rPr lang="en-US" sz="1200" b="1" dirty="0">
                <a:solidFill>
                  <a:srgbClr val="C8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40080" y="55778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Môn học tập trung phía CLIENT.</a:t>
            </a:r>
            <a:endParaRPr lang="en-US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100" dirty="0">
                <a:solidFill>
                  <a:srgbClr val="C8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 KHI MỞ MỘT WEBSITE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Quy trình Yêu cầu – Phản hồi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F1EEEA"/>
            </a:solidFill>
            <a:prstDash val="solid"/>
          </a:ln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57984"/>
            <a:ext cx="566928" cy="566928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5798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737360" y="2066544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1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Người dùng gõ địa chỉ web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737360" y="2505456"/>
            <a:ext cx="9509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6B5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dụ: https://monnghe.vn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40080" y="3072384"/>
            <a:ext cx="1088136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F1EEEA"/>
            </a:solidFill>
            <a:prstDash val="solid"/>
          </a:ln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310128"/>
            <a:ext cx="566928" cy="566928"/>
          </a:xfrm>
          <a:prstGeom prst="ellipse">
            <a:avLst/>
          </a:prstGeom>
          <a:solidFill>
            <a:srgbClr val="C8A04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3101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737360" y="3218688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1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Trình duyệt gửi yêu cầu HTTP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737360" y="3657600"/>
            <a:ext cx="9509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6B5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tới máy chủ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640080" y="4224528"/>
            <a:ext cx="1088136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F1EEEA"/>
            </a:solidFill>
            <a:prstDash val="solid"/>
          </a:ln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462272"/>
            <a:ext cx="566928" cy="566928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4622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737360" y="4370832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1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Máy chủ trả về các tệp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737360" y="4809744"/>
            <a:ext cx="9509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6B5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JavaScript, ảnh...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640080" y="5376672"/>
            <a:ext cx="1088136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F1EEEA"/>
            </a:solidFill>
            <a:prstDash val="solid"/>
          </a:ln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5614416"/>
            <a:ext cx="566928" cy="566928"/>
          </a:xfrm>
          <a:prstGeom prst="ellipse">
            <a:avLst/>
          </a:prstGeom>
          <a:solidFill>
            <a:srgbClr val="C8A046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6144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737360" y="5522976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1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Trình duyệt hiển thị trang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737360" y="5961888"/>
            <a:ext cx="9509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6B5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Dịch mã và render cho người xem</a:t>
            </a:r>
            <a:endParaRPr lang="en-US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100" dirty="0">
                <a:solidFill>
                  <a:srgbClr val="C8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 TỪ VỰNG NỀN TẢNG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Các khái niệm cần biết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F1EEEA"/>
            </a:solidFill>
            <a:prstDash val="solid"/>
          </a:ln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8483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297680" y="2084832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2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diện phía client (HTML/CSS/JS)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40080" y="2816352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F1EEEA"/>
            </a:solidFill>
            <a:prstDash val="solid"/>
          </a:ln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98094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297680" y="2980944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2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 phía server — không thuộc môn này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640080" y="3712464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F1EEEA"/>
            </a:solidFill>
            <a:prstDash val="solid"/>
          </a:ln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387705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tĩnh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297680" y="387705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2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HTML/CSS/JS — loại sẽ làm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640080" y="4608576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F1EEEA"/>
            </a:solidFill>
            <a:prstDash val="solid"/>
          </a:ln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477316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/ DNS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297680" y="4773168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2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Tên miền; DNS dịch tên sang máy chủ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40080" y="5504688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F1EEEA"/>
            </a:solidFill>
            <a:prstDash val="solid"/>
          </a:ln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56692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Hosting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297680" y="566928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2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Dịch vụ lưu website trên Internet</a:t>
            </a:r>
            <a:endParaRPr lang="en-US" sz="2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100" dirty="0">
                <a:solidFill>
                  <a:srgbClr val="C8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 CÁCH TRAO ĐỔI DỮ LIỆU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 &amp; cấu trúc URL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2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là bộ quy tắc để Client và Server trao đổi dữ liệu trên web.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10881360" cy="3108960"/>
          </a:xfrm>
          <a:prstGeom prst="roundRect">
            <a:avLst>
              <a:gd name="adj" fmla="val 1765"/>
            </a:avLst>
          </a:prstGeom>
          <a:solidFill>
            <a:srgbClr val="F3F3F3"/>
          </a:solidFill>
          <a:ln w="12700">
            <a:solidFill>
              <a:srgbClr val="D9D5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880360"/>
            <a:ext cx="10515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600" dirty="0">
                <a:solidFill>
                  <a:srgbClr val="2A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https://monnghe.vn/thuc-don</a:t>
            </a:r>
            <a:endParaRPr lang="en-US" sz="26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2600" dirty="0">
                <a:solidFill>
                  <a:srgbClr val="2A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       |          |</a:t>
            </a:r>
            <a:endParaRPr lang="en-US" sz="26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2600" dirty="0">
                <a:solidFill>
                  <a:srgbClr val="2A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       |          └─ Đường dẫn (path)</a:t>
            </a:r>
            <a:endParaRPr lang="en-US" sz="26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2600" dirty="0">
                <a:solidFill>
                  <a:srgbClr val="2A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       └──────────── Tên miền (domain)</a:t>
            </a:r>
            <a:endParaRPr lang="en-US" sz="26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2600" dirty="0">
                <a:solidFill>
                  <a:srgbClr val="2A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└───────────────────── Giao thức (https)</a:t>
            </a:r>
            <a:endParaRPr lang="en-US" sz="2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100" dirty="0">
                <a:solidFill>
                  <a:srgbClr val="C8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 KẾT QUẢ XỬ LÝ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Phương thức &amp; Mã trạng thái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1208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F1EEEA"/>
            </a:solidFill>
            <a:prstDash val="solid"/>
          </a:ln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031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Phương thức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914400" y="2697480"/>
            <a:ext cx="1737360" cy="594360"/>
          </a:xfrm>
          <a:prstGeom prst="roundRect">
            <a:avLst>
              <a:gd name="adj" fmla="val 9231"/>
            </a:avLst>
          </a:pr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69748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834640" y="269748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2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Lấy dữ liệu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14400" y="3474720"/>
            <a:ext cx="1737360" cy="594360"/>
          </a:xfrm>
          <a:prstGeom prst="roundRect">
            <a:avLst>
              <a:gd name="adj" fmla="val 9231"/>
            </a:avLst>
          </a:prstGeom>
          <a:solidFill>
            <a:srgbClr val="C8A046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47472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834640" y="347472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2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Gửi dữ liệu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126480" y="1920240"/>
            <a:ext cx="539496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F1EEEA"/>
            </a:solidFill>
            <a:prstDash val="solid"/>
          </a:ln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21031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Mã trạng thái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400800" y="2697480"/>
            <a:ext cx="1188720" cy="566928"/>
          </a:xfrm>
          <a:prstGeom prst="roundRect">
            <a:avLst>
              <a:gd name="adj" fmla="val 8065"/>
            </a:avLst>
          </a:prstGeom>
          <a:solidFill>
            <a:srgbClr val="3C6B2E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2697480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772400" y="2697480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2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Thành công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6400800" y="3447288"/>
            <a:ext cx="1188720" cy="566928"/>
          </a:xfrm>
          <a:prstGeom prst="roundRect">
            <a:avLst>
              <a:gd name="adj" fmla="val 8065"/>
            </a:avLst>
          </a:prstGeom>
          <a:solidFill>
            <a:srgbClr val="E34F2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3447288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772400" y="3447288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2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tìm thấy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6400800" y="4197096"/>
            <a:ext cx="1188720" cy="566928"/>
          </a:xfrm>
          <a:prstGeom prst="roundRect">
            <a:avLst>
              <a:gd name="adj" fmla="val 8065"/>
            </a:avLst>
          </a:prstGeom>
          <a:solidFill>
            <a:srgbClr val="8B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4197096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772400" y="4197096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2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Lỗi máy chủ</a:t>
            </a:r>
            <a:endParaRPr lang="en-US" sz="2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100" dirty="0">
                <a:solidFill>
                  <a:srgbClr val="C8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 BẢO MẬT DỮ LIỆU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HTTPS — HTTP an toàn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1EEEA"/>
            </a:solidFill>
            <a:prstDash val="solid"/>
          </a:ln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40280"/>
            <a:ext cx="777240" cy="777240"/>
          </a:xfrm>
          <a:prstGeom prst="ellipse">
            <a:avLst/>
          </a:prstGeom>
          <a:solidFill>
            <a:srgbClr val="3C6B2E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240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3230" dirty="0"/>
          </a:p>
        </p:txBody>
      </p:sp>
      <p:sp>
        <p:nvSpPr>
          <p:cNvPr id="7" name="Text 5"/>
          <p:cNvSpPr/>
          <p:nvPr/>
        </p:nvSpPr>
        <p:spPr>
          <a:xfrm>
            <a:off x="1965960" y="2057400"/>
            <a:ext cx="9326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2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= HTTP + mã hoá SSL/TLS — kẻ gian chặn cũng không đọc được.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40080" y="352044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1EEEA"/>
            </a:solidFill>
            <a:prstDash val="solid"/>
          </a:ln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366674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Nhận biết: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749040" y="3666744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2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Địa chỉ https:// và có ổ khoá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40080" y="438912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1EEEA"/>
            </a:solidFill>
            <a:prstDash val="solid"/>
          </a:ln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453542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Bắt buộc: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749040" y="4535424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2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Trang đăng nhập, thanh toán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640080" y="525780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1EEEA"/>
            </a:solidFill>
            <a:prstDash val="solid"/>
          </a:ln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" y="540410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Miễn phí: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749040" y="5404104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2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Pages, Netlify tự cấp</a:t>
            </a:r>
            <a:endParaRPr lang="en-US" sz="2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100" dirty="0">
                <a:solidFill>
                  <a:srgbClr val="C8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 CÔNG CỤ VIẾT CODE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 Code &amp; Extension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1EEEA"/>
            </a:solidFill>
            <a:prstDash val="solid"/>
          </a:ln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3291840" cy="530352"/>
          </a:xfrm>
          <a:prstGeom prst="roundRect">
            <a:avLst>
              <a:gd name="adj" fmla="val 10345"/>
            </a:avLst>
          </a:pr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40280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Server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434840" y="2240280"/>
            <a:ext cx="6858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2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web, tự tải lại khi lưu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40080" y="315468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1EEEA"/>
            </a:solidFill>
            <a:prstDash val="solid"/>
          </a:ln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3429000"/>
            <a:ext cx="3291840" cy="530352"/>
          </a:xfrm>
          <a:prstGeom prst="roundRect">
            <a:avLst>
              <a:gd name="adj" fmla="val 10345"/>
            </a:avLst>
          </a:prstGeom>
          <a:solidFill>
            <a:srgbClr val="C8A046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429000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Prettier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434840" y="3429000"/>
            <a:ext cx="6858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2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căn chỉnh, định dạng mã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40080" y="434340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1EEEA"/>
            </a:solidFill>
            <a:prstDash val="solid"/>
          </a:ln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4617720"/>
            <a:ext cx="3291840" cy="530352"/>
          </a:xfrm>
          <a:prstGeom prst="roundRect">
            <a:avLst>
              <a:gd name="adj" fmla="val 10345"/>
            </a:avLst>
          </a:prstGeom>
          <a:solidFill>
            <a:srgbClr val="2A1512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617720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Rename Tag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434840" y="4617720"/>
            <a:ext cx="6858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2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Sửa thẻ mở tự sửa thẻ đóng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Mẹo: gõ ! rồi Tab để sinh nhanh khung HTML.</a:t>
            </a:r>
            <a:endParaRPr lang="en-US" sz="2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8B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017520"/>
            <a:ext cx="4572000" cy="4572000"/>
          </a:xfrm>
          <a:prstGeom prst="ellipse">
            <a:avLst/>
          </a:prstGeom>
          <a:solidFill>
            <a:srgbClr val="6D000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C8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1.4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10607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Quản lý mã nguồn </a:t>
            </a:r>
            <a:r>
              <a:rPr lang="en-US" sz="4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với GitHub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lịch sử code, làm việc nhóm, đưa code lên mạng</a:t>
            </a:r>
            <a:endParaRPr lang="en-US" sz="2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100" dirty="0">
                <a:solidFill>
                  <a:srgbClr val="C8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 CÁCH GIT LƯU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 vùng làm việc &amp; cấu hình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108960" cy="1005840"/>
          </a:xfrm>
          <a:prstGeom prst="roundRect">
            <a:avLst>
              <a:gd name="adj" fmla="val 7273"/>
            </a:avLst>
          </a:prstGeom>
          <a:solidFill>
            <a:srgbClr val="6B5D5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6596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Thư mục làm việc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794760" y="22402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B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→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212080" y="1965960"/>
            <a:ext cx="3108960" cy="1005840"/>
          </a:xfrm>
          <a:prstGeom prst="roundRect">
            <a:avLst>
              <a:gd name="adj" fmla="val 7273"/>
            </a:avLst>
          </a:prstGeom>
          <a:solidFill>
            <a:srgbClr val="C8A046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0" y="196596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Vùng chờ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366760" y="22402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B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 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10149840" y="1965960"/>
            <a:ext cx="1371600" cy="1005840"/>
          </a:xfrm>
          <a:prstGeom prst="roundRect">
            <a:avLst>
              <a:gd name="adj" fmla="val 7273"/>
            </a:avLst>
          </a:prstGeom>
          <a:solidFill>
            <a:srgbClr val="8B0000"/>
          </a:solidFill>
          <a:ln/>
        </p:spPr>
      </p:sp>
      <p:sp>
        <p:nvSpPr>
          <p:cNvPr id="11" name="Text 9"/>
          <p:cNvSpPr/>
          <p:nvPr/>
        </p:nvSpPr>
        <p:spPr>
          <a:xfrm>
            <a:off x="10241280" y="1965960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40080" y="320040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2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 commit → git push đẩy lên GitHub.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640080" y="3886200"/>
            <a:ext cx="10881360" cy="1828800"/>
          </a:xfrm>
          <a:prstGeom prst="roundRect">
            <a:avLst>
              <a:gd name="adj" fmla="val 3000"/>
            </a:avLst>
          </a:prstGeom>
          <a:solidFill>
            <a:srgbClr val="F3F3F3"/>
          </a:solidFill>
          <a:ln w="12700">
            <a:solidFill>
              <a:srgbClr val="D9D5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02336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600" dirty="0">
                <a:solidFill>
                  <a:srgbClr val="2A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user.name "Ten"</a:t>
            </a:r>
            <a:endParaRPr lang="en-US" sz="26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2600" dirty="0">
                <a:solidFill>
                  <a:srgbClr val="2A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user.email "email"</a:t>
            </a:r>
            <a:endParaRPr lang="en-US" sz="2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9F52EF9-289A-45CE-85FA-50FB3974C5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828" y="813379"/>
            <a:ext cx="10636751" cy="58939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Cấu trúc thư mục website tĩnh chuẩn</a:t>
            </a: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Mô hình tổ chức: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800" b="1"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800"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800"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Nguyên tắc: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800">
                <a:latin typeface="Google Sans Text"/>
              </a:rPr>
              <a:t>	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Tên file viết thường, không dấu,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	Dùng gạch nối </a:t>
            </a:r>
            <a:r>
              <a:rPr kumimoji="0" lang="en-US" altLang="en-US" sz="4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-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thay cho khoảng trắng.</a:t>
            </a:r>
            <a:endParaRPr kumimoji="0" lang="en-US" altLang="en-US" sz="8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64638F-C915-4F75-A873-B180EC141B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6088" y="1256189"/>
            <a:ext cx="8056084" cy="342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7812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D4EDC58-DC0F-4C77-90B6-61198F8A10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4856" y="227370"/>
            <a:ext cx="10322287" cy="58939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Bước 1:  </a:t>
            </a:r>
            <a:r>
              <a:rPr kumimoji="0" lang="en-US" altLang="en-US" sz="3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Trên máy: Cài đặt và cấu hình Git ban đầu</a:t>
            </a:r>
            <a:endParaRPr kumimoji="0" lang="en-US" altLang="en-US" sz="4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Tải và cài đặt:</a:t>
            </a:r>
            <a:r>
              <a:rPr kumimoji="0" lang="en-US" altLang="en-US" sz="4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4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Truy cập </a:t>
            </a:r>
            <a:r>
              <a:rPr lang="en-US" sz="4000">
                <a:solidFill>
                  <a:srgbClr val="FF0000"/>
                </a:solidFill>
              </a:rPr>
              <a:t>git-scm.com</a:t>
            </a:r>
            <a:r>
              <a:rPr kumimoji="0" lang="en-US" altLang="en-US" sz="40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Google Sans Text"/>
              </a:rPr>
              <a:t>-</a:t>
            </a:r>
            <a:r>
              <a:rPr kumimoji="0" lang="en-US" altLang="en-US" sz="4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&gt; Tải bản Windows 64-bit -&gt; Chọn trình soạn thảo mặc định là </a:t>
            </a:r>
            <a:r>
              <a:rPr kumimoji="0" lang="en-US" altLang="en-US" sz="40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VS Code</a:t>
            </a:r>
            <a:r>
              <a:rPr kumimoji="0" lang="en-US" altLang="en-US" sz="4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Kiểm tra cài đặt (Terminal):</a:t>
            </a:r>
            <a:endParaRPr kumimoji="0" lang="en-US" altLang="en-US" sz="4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44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Google Sans Text"/>
              </a:rPr>
              <a:t>git --version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Google Sans Text"/>
              </a:rPr>
              <a:t> </a:t>
            </a:r>
            <a:r>
              <a:rPr kumimoji="0" lang="en-US" altLang="en-US" sz="40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(Kiểm tra phiên bản đã cài)</a:t>
            </a:r>
            <a:endParaRPr kumimoji="0" lang="en-US" altLang="en-US" sz="4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Cấu hình danh tính (Thực hiện 1 lần duy nhất):</a:t>
            </a:r>
            <a:endParaRPr kumimoji="0" lang="en-US" altLang="en-US" sz="4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git config --global user.name "HoTenSinhVien"</a:t>
            </a: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git config --global user.email "email_github@gmail.com"</a:t>
            </a: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79306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E38A0A5-094A-473D-BC1B-4F0368966B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619" y="862643"/>
            <a:ext cx="10371383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BƯỚC 2 - KHỞI TẠO REPOSITORY TRÊN GITHUB</a:t>
            </a:r>
            <a:endParaRPr kumimoji="0" lang="en-US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Thao tác thực hiện:</a:t>
            </a:r>
            <a:endParaRPr kumimoji="0" lang="en-US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Truy cập vào trang chủ 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GitHub.com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và đăng nhập tài khoản.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Nhấp vào biểu tượng dấu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+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ở góc trên bên phải màn hình -&gt; Chọn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New repository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Cấu hình thông số:</a:t>
            </a:r>
            <a:endParaRPr kumimoji="0" lang="en-US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Repository name: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Nhập tên dự án viết liền, không dấu, không khoảng cách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en-US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Chế độ: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Để ở chế độ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(Bắt buộc để kích hoạt tính năng chạy web trực tuyến miễn phí).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⚠️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Lưu ý cực kỳ quan trọng: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KHÔNG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tick chọn bất kỳ ô tạo sẵn nào (như </a:t>
            </a:r>
            <a:r>
              <a:rPr kumimoji="0" lang="en-US" altLang="en-US" sz="24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a README file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.gitignore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Nhấn nút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repository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để hoàn tất khởi tạo.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7016D4-794D-4F77-9CF5-2FD9BC46AD00}"/>
              </a:ext>
            </a:extLst>
          </p:cNvPr>
          <p:cNvSpPr txBox="1"/>
          <p:nvPr/>
        </p:nvSpPr>
        <p:spPr>
          <a:xfrm>
            <a:off x="569135" y="262147"/>
            <a:ext cx="60949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Trên trang GitHub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28649796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E38A0A5-094A-473D-BC1B-4F0368966B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185" y="918526"/>
            <a:ext cx="11187591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BƯỚC </a:t>
            </a: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</a:t>
            </a:r>
            <a:r>
              <a:rPr kumimoji="0" lang="vi-V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ĐÓNG GÓI MÃ NGUỒN TRONG VS CODE TERMINAL (Phần 1)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28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Chuẩn bị môi trường: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2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Mở thư mục chứa mã nguồn trang web bán hàng của bạn trong phần mềm VS Code.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2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Mở ô gõ lệnh Terminal bằng tổ hợp phím: `Ctrl + `` (hoặc vào menu trên cùng chọn Terminal &gt; New Terminal).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28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Chạy lệnh khởi tạo Git cục bộ: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Gõ lệnh:</a:t>
            </a: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 init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Ý nghĩa: Tạo ra một thư mục ẩn .git trong dự án để Git bắt đầu theo dõi mọi sự thay đổi trong code của bạn.</a:t>
            </a: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90199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E38A0A5-094A-473D-BC1B-4F0368966B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185" y="1133968"/>
            <a:ext cx="11187591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BƯỚC </a:t>
            </a: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</a:t>
            </a:r>
            <a:r>
              <a:rPr kumimoji="0" lang="vi-V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ĐÓNG GÓI MÃ NGUỒN (Phần 2 - Ghi lại lịch sử)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</a:t>
            </a:r>
            <a:r>
              <a:rPr kumimoji="0" lang="vi-V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Đưa tệp vào vùng chờ:</a:t>
            </a: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vi-VN" altLang="en-US" sz="28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git add 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2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Ý nghĩa: Thu gom toàn bộ các tệp tin trong thư mục (như file index.html) vào vùng chờ (Staging Area).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</a:t>
            </a:r>
            <a:r>
              <a:rPr kumimoji="0" lang="vi-V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Chụp ảnh lưu trữ lịch sử:</a:t>
            </a: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en-US" sz="28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git commit -m "first commit"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2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Ý nghĩa: Lưu lại trạng thái mã nguồn hiện tại vào bộ nhớ Git cục bộ kèm lời mô tả ngắn gọn.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</a:t>
            </a:r>
            <a:r>
              <a:rPr kumimoji="0" lang="vi-V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Đặt tên nhánh chính:</a:t>
            </a: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en-US" sz="28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git branch -M main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2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Ý nghĩa: Đổi tên nhánh làm việc chính mặc định thành main theo chuẩn hiển thị của GitHub.</a:t>
            </a:r>
            <a:endParaRPr kumimoji="0" lang="en-US" altLang="en-US" sz="28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79738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E38A0A5-094A-473D-BC1B-4F0368966B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185" y="487638"/>
            <a:ext cx="11187591" cy="5693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BƯỚC </a:t>
            </a: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</a:t>
            </a:r>
            <a:r>
              <a:rPr kumimoji="0" lang="vi-V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LIÊN KẾT &amp; ĐẨY MÃ NGUỒN LÊN MẠNG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1. </a:t>
            </a:r>
            <a:r>
              <a:rPr kumimoji="0" lang="vi-VN" altLang="en-US" sz="28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Sao chép đường link: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Quay lại trang GitHub vừa tạo ở Bước 1.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Sao chép đường dẫn HTTPS của kho chứa (có dạng: https://github.com/&lt;tai-khoan&gt;/&lt;ten-repo&gt;.git).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2. </a:t>
            </a:r>
            <a:r>
              <a:rPr kumimoji="0" lang="vi-VN" altLang="en-US" sz="28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Chạy lệnh liên kết trong VS Code Terminal</a:t>
            </a:r>
            <a:r>
              <a:rPr kumimoji="0" lang="vi-V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 remote add origin &lt;ĐƯỜNG_DẪN_HTTPS_VỪA_COPY&gt;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Ý nghĩa: Gán địa chỉ kho chứa trên GitHub trực tuyến với tên đại diện cục bộ là origin.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Đẩy mã nguồn lên đám mây: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3. </a:t>
            </a:r>
            <a:r>
              <a:rPr kumimoji="0" lang="vi-VN" altLang="en-US" sz="28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git push -u origin main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Ý nghĩa: Đẩy toàn bộ mã nguồn đã commit ở máy của bạn lên nhánh chính main của GitHub trực tuyến.</a:t>
            </a:r>
            <a:endParaRPr kumimoji="0" lang="en-US" altLang="en-US" sz="28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19186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E38A0A5-094A-473D-BC1B-4F0368966B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185" y="1564856"/>
            <a:ext cx="11187591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BƯỚC </a:t>
            </a: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 </a:t>
            </a:r>
            <a:r>
              <a:rPr kumimoji="0" lang="vi-V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(TIẾP) - XÁC THỰC TÀI KHOẢN (AUTHENTICATION)</a:t>
            </a:r>
            <a:endParaRPr kumimoji="0" lang="en-US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Khi bạn chạy lệnh git push lần đầu tiên, hệ thống sẽ hiện hộp thoại bảo mật yêu cầu xác thực người dùng:Nhấp chọn nút Sign in with your browser (Đăng nhập qua trình duyệt).Trình duyệt web sẽ tự động mở ra </a:t>
            </a: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-&gt; </a:t>
            </a:r>
            <a:r>
              <a:rPr kumimoji="0" lang="vi-V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Nhấp chọn Authorize GitCredentialManager để cấp quyền.</a:t>
            </a:r>
            <a:endParaRPr kumimoji="0" lang="en-US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Quay lại VS Code, màn hình Terminal sẽ báo đẩy code thành công (hiển thị thông báo dạng Branch 'main' set up to track...).</a:t>
            </a:r>
            <a:endParaRPr kumimoji="0" lang="en-US" altLang="en-US" sz="28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29174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E38A0A5-094A-473D-BC1B-4F0368966B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185" y="918525"/>
            <a:ext cx="11187591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BƯỚC </a:t>
            </a: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</a:t>
            </a:r>
            <a:r>
              <a:rPr kumimoji="0" lang="vi-V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KÍCH HOẠT WEBSITE TRỰC TUYẾN (GITHUB PAGES)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1. </a:t>
            </a:r>
            <a:r>
              <a:rPr kumimoji="0" lang="vi-VN" altLang="en-US" sz="28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Thao tác trên giao diện GitHub trực tuyến: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Truy cập vào trang Repository của bạn trên GitHub.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</a:t>
            </a:r>
            <a:r>
              <a:rPr kumimoji="0" lang="vi-V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Nhấp vào </a:t>
            </a:r>
            <a:r>
              <a:rPr kumimoji="0" lang="vi-VN" altLang="en-US" sz="28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thẻ Settings </a:t>
            </a:r>
            <a:r>
              <a:rPr kumimoji="0" lang="vi-V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(Cài đặt) ở thanh công cụ ngang trên cùng.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</a:t>
            </a:r>
            <a:r>
              <a:rPr kumimoji="0" lang="vi-V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Tại danh mục bên trái, tìm đến mục </a:t>
            </a:r>
            <a:r>
              <a:rPr kumimoji="0" lang="vi-VN" altLang="en-US" sz="28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Pages.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</a:t>
            </a:r>
            <a:r>
              <a:rPr kumimoji="0" lang="vi-V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Tại phần </a:t>
            </a:r>
            <a:r>
              <a:rPr kumimoji="0" lang="vi-VN" altLang="en-US" sz="28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Build and deployment &gt; Branch</a:t>
            </a:r>
            <a:r>
              <a:rPr kumimoji="0" lang="vi-V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Chuyển từ trạng thái </a:t>
            </a:r>
            <a:r>
              <a:rPr kumimoji="0" lang="vi-VN" altLang="en-US" sz="28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None</a:t>
            </a:r>
            <a:r>
              <a:rPr kumimoji="0" lang="vi-V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sang nhánh </a:t>
            </a:r>
            <a:r>
              <a:rPr kumimoji="0" lang="vi-VN" altLang="en-US" sz="28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main.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Giữ nguyên thư mục gốc là /(root).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Nhấp nút </a:t>
            </a:r>
            <a:r>
              <a:rPr kumimoji="0" lang="vi-VN" altLang="en-US" sz="28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Save (Lưu) </a:t>
            </a:r>
            <a:r>
              <a:rPr kumimoji="0" lang="vi-V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để hệ thống bắt đầu biên dịch trang web.</a:t>
            </a:r>
            <a:endParaRPr kumimoji="0" lang="en-US" altLang="en-US" sz="28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18831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E38A0A5-094A-473D-BC1B-4F0368966B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185" y="983152"/>
            <a:ext cx="11187591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BƯỚC </a:t>
            </a: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</a:t>
            </a:r>
            <a:r>
              <a:rPr kumimoji="0" lang="vi-V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(TIẾP) - NHẬN KẾT QUẢ NGHIỆM THU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28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Thời gian xử lý</a:t>
            </a:r>
            <a:r>
              <a:rPr kumimoji="0" lang="vi-V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Đợi khoảng 1 đến 2 phút để máy chủ đám mây của GitHub đóng gói dự án của bạn.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28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Nhận đường link online</a:t>
            </a:r>
            <a:r>
              <a:rPr kumimoji="0" lang="vi-V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Tải lại (F5) trang Pages, bạn sẽ nhận được một đường link chạy trực tiếp màu xanh lá cây có dạng: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https://&lt;tai-khoan&gt;.github.io/&lt;ten-repo&gt;/</a:t>
            </a:r>
            <a:endParaRPr kumimoji="0" lang="en-US" altLang="en-US" sz="28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7131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100">
                <a:solidFill>
                  <a:srgbClr val="C8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 </a:t>
            </a:r>
            <a:r>
              <a:rPr lang="en-US" sz="2600" b="1" kern="0" spc="100" dirty="0">
                <a:solidFill>
                  <a:srgbClr val="C8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LỆNH CẦN NHỚ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322228" y="141732"/>
            <a:ext cx="599472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Các lệnh Git cơ bản</a:t>
            </a:r>
            <a:endParaRPr lang="en-US" sz="38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DC1FBA8-7D43-4E5F-AB7A-A73FC6F65659}"/>
              </a:ext>
            </a:extLst>
          </p:cNvPr>
          <p:cNvSpPr txBox="1"/>
          <p:nvPr/>
        </p:nvSpPr>
        <p:spPr>
          <a:xfrm>
            <a:off x="245477" y="1017163"/>
            <a:ext cx="1180128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3600"/>
              <a:t>Quy trình đầy đủ cho lần đầu:</a:t>
            </a:r>
            <a:endParaRPr lang="en-US" sz="36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3600" b="1"/>
              <a:t>git init (Khởi tạo Git)</a:t>
            </a:r>
            <a:endParaRPr lang="en-US" sz="3600" b="1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3600" b="1"/>
              <a:t>git add . (Đưa file vào vùng chờ)</a:t>
            </a:r>
            <a:endParaRPr lang="en-US" sz="3600" b="1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3600" b="1"/>
              <a:t>git commit -m "first commit" (Lưu trạng thái)</a:t>
            </a:r>
            <a:endParaRPr lang="en-US" sz="3600" b="1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3600" b="1"/>
              <a:t>git branch -M main (Đổi tên nhánh mặc định thành main)</a:t>
            </a:r>
            <a:endParaRPr lang="en-US" sz="3600" b="1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3600" b="1"/>
              <a:t>git remote add origin &lt;URL&gt; (Bắt buộc: Gán địa chỉ kho trên GitHub)</a:t>
            </a:r>
            <a:endParaRPr lang="en-US" sz="3600" b="1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3600" b="1"/>
              <a:t>git push -u origin main (Đẩy code lên và thiết lập liên kết)</a:t>
            </a:r>
            <a:endParaRPr lang="en-US" sz="3600" b="1"/>
          </a:p>
        </p:txBody>
      </p:sp>
    </p:spTree>
    <p:extLst>
      <p:ext uri="{BB962C8B-B14F-4D97-AF65-F5344CB8AC3E}">
        <p14:creationId xmlns:p14="http://schemas.microsoft.com/office/powerpoint/2010/main" val="3009541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100">
                <a:solidFill>
                  <a:srgbClr val="C8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 </a:t>
            </a:r>
            <a:r>
              <a:rPr lang="en-US" sz="2600" b="1" kern="0" spc="100" dirty="0">
                <a:solidFill>
                  <a:srgbClr val="C8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LỆNH CẦN NHỚ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322228" y="141732"/>
            <a:ext cx="599472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Các lệnh Git cơ bản</a:t>
            </a:r>
            <a:endParaRPr lang="en-US" sz="38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DC1FBA8-7D43-4E5F-AB7A-A73FC6F65659}"/>
              </a:ext>
            </a:extLst>
          </p:cNvPr>
          <p:cNvSpPr txBox="1"/>
          <p:nvPr/>
        </p:nvSpPr>
        <p:spPr>
          <a:xfrm>
            <a:off x="245477" y="1017163"/>
            <a:ext cx="1180128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3600"/>
              <a:t>Các lần cập nhật/chỉnh sửa sau đó (Chỉ cần đúng 3 lệnh)</a:t>
            </a:r>
            <a:endParaRPr lang="en-US" sz="3600"/>
          </a:p>
          <a:p>
            <a:r>
              <a:rPr lang="vi-VN" sz="3600"/>
              <a:t>Khi dự án đã được liên kết với GitHub thành công ở lần đầu, bạn không cần chạy lại git init hay git remote add nữa. Mỗi khi sửa code, bạn chỉ cần:</a:t>
            </a:r>
            <a:endParaRPr lang="en-US" sz="360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vi-VN" sz="3600" b="1"/>
              <a:t>git add .</a:t>
            </a:r>
            <a:endParaRPr lang="en-US" sz="3600" b="1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vi-VN" sz="3600" b="1"/>
              <a:t>git commit -m "mo ta noi dung sua“</a:t>
            </a:r>
            <a:endParaRPr lang="en-US" sz="3600" b="1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vi-VN" sz="3600" b="1"/>
              <a:t>git push</a:t>
            </a:r>
            <a:endParaRPr lang="en-US" sz="3600" b="1"/>
          </a:p>
        </p:txBody>
      </p:sp>
    </p:spTree>
    <p:extLst>
      <p:ext uri="{BB962C8B-B14F-4D97-AF65-F5344CB8AC3E}">
        <p14:creationId xmlns:p14="http://schemas.microsoft.com/office/powerpoint/2010/main" val="6824930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8A0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100" dirty="0">
                <a:solidFill>
                  <a:srgbClr val="6D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HÀNH TUẦN 1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2331720"/>
            <a:ext cx="1051560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53288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Bài 1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2926080" y="251460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2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VS Code + extension; cài Git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822960" y="3355848"/>
            <a:ext cx="1051560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557016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Bài 2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2926080" y="35387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2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</a:t>
            </a:r>
            <a:r>
              <a:rPr lang="en-US" sz="2600">
                <a:solidFill>
                  <a:srgbClr val="2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 Github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822960" y="4379976"/>
            <a:ext cx="1051560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4581144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Bài 3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926080" y="4562856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>
                <a:solidFill>
                  <a:srgbClr val="2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hành đưa website đầu tiên liên github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22960" y="5404104"/>
            <a:ext cx="1051560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560527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Bài 4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2926080" y="5586984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>
                <a:solidFill>
                  <a:srgbClr val="2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hiểu chế độ nhóm trong github, mời thành viên</a:t>
            </a:r>
            <a:endParaRPr lang="en-US" sz="2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8B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4206240"/>
            <a:ext cx="4114800" cy="4114800"/>
          </a:xfrm>
          <a:prstGeom prst="ellipse">
            <a:avLst/>
          </a:prstGeom>
          <a:solidFill>
            <a:srgbClr val="6D0000"/>
          </a:solidFill>
          <a:ln/>
        </p:spPr>
      </p:sp>
      <p:sp>
        <p:nvSpPr>
          <p:cNvPr id="3" name="Text 1"/>
          <p:cNvSpPr/>
          <p:nvPr/>
        </p:nvSpPr>
        <p:spPr>
          <a:xfrm>
            <a:off x="614855" y="140707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KẾT CHƯƠNG 1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914400" y="2487168"/>
            <a:ext cx="457200" cy="457200"/>
          </a:xfrm>
          <a:prstGeom prst="ellipse">
            <a:avLst/>
          </a:prstGeom>
          <a:solidFill>
            <a:srgbClr val="C8A04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487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00200" y="246888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hoạt động theo Client–Server, HTTP/HTTPS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914400" y="3264408"/>
            <a:ext cx="457200" cy="457200"/>
          </a:xfrm>
          <a:prstGeom prst="ellipse">
            <a:avLst/>
          </a:prstGeom>
          <a:solidFill>
            <a:srgbClr val="C8A046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264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600200" y="324612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hình VS Code + Live Server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914400" y="4041648"/>
            <a:ext cx="457200" cy="457200"/>
          </a:xfrm>
          <a:prstGeom prst="ellipse">
            <a:avLst/>
          </a:prstGeom>
          <a:solidFill>
            <a:srgbClr val="C8A046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041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600200" y="402336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lệnh Git: init, add, commit, push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914400" y="4818888"/>
            <a:ext cx="457200" cy="457200"/>
          </a:xfrm>
          <a:prstGeom prst="ellipse">
            <a:avLst/>
          </a:prstGeom>
          <a:solidFill>
            <a:srgbClr val="C8A046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818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600200" y="480060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đã có kho GitHub chung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C8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bị Chương 2: HTML5 semantic &amp; form.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1738</Words>
  <Application>Microsoft Office PowerPoint</Application>
  <PresentationFormat>Widescreen</PresentationFormat>
  <Paragraphs>227</Paragraphs>
  <Slides>25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Cambria</vt:lpstr>
      <vt:lpstr>Consolas</vt:lpstr>
      <vt:lpstr>Google Sans Text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MacBook</cp:lastModifiedBy>
  <cp:revision>23</cp:revision>
  <dcterms:created xsi:type="dcterms:W3CDTF">2026-08-19T15:19:38Z</dcterms:created>
  <dcterms:modified xsi:type="dcterms:W3CDTF">2026-08-20T03:20:35Z</dcterms:modified>
</cp:coreProperties>
</file>